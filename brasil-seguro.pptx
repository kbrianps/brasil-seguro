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(30 s). Apresento o Brasil Seguro: uma proposta de serviço público digital para o governo federal, estados e municípios. A frase central: o Brasil já tem o alarme, falta o plano de fuga. O QR leva ao protótipo.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(10 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 (50 s). Um fenômeno, impactos opostos: enchente no Sul, seca no Norte e Nordeste, calor no Sudeste. Por isso uma solução única precisa se adaptar ao lugar.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científica (40 s). Evidência de ONU, Lancet, IPCC e Banco Mundial: alerta precoce reduz mortes e é barato. O gargalo é transformar o aviso em 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Brasil hoje (50 s). Temos boas ferramentas de aviso, mas todas param no aviso. Nenhuma diz o que fazer, onde ir ou permite pedir ajuda.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Exterior (50 s). Cada país resolveu uma parte: assinatura nos EUA, velocidade no Japão, lei na Europa, acessibilidade na Índia. O Brasil Seguro junta essas partes.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Segurança (40 s). O caso misantropia mostrou que o alerta pode ser usado contra a população. Por isso segurança é requisito, não detalhe.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Inovação (50 s). Este é o coração da proposta: não substituímos o alerta, transformamos o alerta em ação, ida e volta, para 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Solução (40 s). Três fases, um só serviço, adaptado ao bairro.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Funcionamento (40 s). Reaproveita o alerta oficial que já existe. É um app só, no celular e no computador. Com internet, tudo em tempo real; sem internet, o alerta chega como hoje e o app mostra o que está salvo; sem sinal, o pedido de ajuda espera o sinal voltar.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Telas (40 s). Agora: status e passos. Isso é real?: combate boato. Locais: cadastrados pelo município e estado; no Rio, pontos de resfriamento seguem o Decreto 54.740/2024. Guias: na ordem dos riscos da região. Ajuda: ligar com um toque.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Confiança e inclusão (40 s). A resposta ao caso misantropia está aqui: assinatura, dupla aprovação, auditoria. E ninguém fica de fora: idosos, pessoas com deficiência e quem tem pouca leitura.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(60 s). Abrir o site pelo QR. Mostrar Urca: status, 3 passos, Estou bem. Trocar para Complexo do Alemão: outro risco, outra orientação. Mostrar a aba Guias ordenada por região.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Governança (40 s). Segue a Lei 12.608/2012: União fornece, estado coordena, município executa. Nada de sistema pesado: navegador, formulário e celular.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Viabilidade (40 s). O custo é baixo porque não criamos infraestrutura nova; o retorno, segundo o Banco Mundial, chega a 36 vezes.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Objetivos (30 s). Começar pelo Rio neste verão, expandir para os estados mais atingidos e chegar ao país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Próximos passos (40 s). O passo mais importante é dar voz às equipes na rua: perfis de permissão para Bombeiros e Defesa Civil reportarem incidentes, tornando a cidade conectada na ponta do dedo.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(20 s). Repetir a frase final e convidar a abrir o QR.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9260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96112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51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BRASIL SEGURO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760720" y="274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D6673"/>
                </a:solidFill>
              </a:rPr>
              <a:t>Proposta de serviço público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6309360"/>
            <a:ext cx="11185855" cy="0"/>
          </a:xfrm>
          <a:prstGeom prst="line">
            <a:avLst/>
          </a:prstGeom>
          <a:noFill/>
          <a:ln w="9525">
            <a:solidFill>
              <a:srgbClr val="DDE3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673"/>
                </a:solidFill>
              </a:rPr>
              <a:t>Brian Pravato · UNIRIO · 2026</a:t>
            </a:r>
            <a:endParaRPr lang="en-US" sz="1050" dirty="0"/>
          </a:p>
        </p:txBody>
      </p:sp>
      <p:sp>
        <p:nvSpPr>
          <p:cNvPr id="7" name="Text 4"/>
          <p:cNvSpPr/>
          <p:nvPr>
            <p:ph idx="105" type="title" hasCustomPrompt="1"/>
          </p:nvPr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71D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943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rgbClr val="5D66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71D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943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rgbClr val="9FB3D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943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rgbClr val="5D66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731520" cy="731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459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B3D1"/>
                </a:solidFill>
              </a:rPr>
              <a:t>PROPOSTA DE SERVIÇO PÚBLICO DIGITAL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8288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BRASIL SEGURO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0632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C9D7EE"/>
                </a:solidFill>
              </a:rPr>
              <a:t>Do alerta à ação: proteger a população nos extremos do El Niño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6F25"/>
                </a:solidFill>
              </a:rPr>
              <a:t>O Brasil já tem o alarme. Falta o plano de fuga.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257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Brian Pravato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FB3D1"/>
                </a:solidFill>
              </a:rPr>
              <a:t>UNIRIO · Inovação na prática · Outubro de 2026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915400" y="146304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qr-urc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1645920"/>
            <a:ext cx="2240280" cy="22402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3931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D41"/>
                </a:solidFill>
              </a:rPr>
              <a:t>Acesse o protótipo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915400" y="42519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51B4"/>
                </a:solidFill>
              </a:rPr>
              <a:t>brasilseguro.kbrianps.com.br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943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rgbClr val="9FB3D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1D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Sumário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78308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78308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51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20116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71D41"/>
                </a:solidFill>
              </a:rPr>
              <a:t>O problema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D6673"/>
                </a:solidFill>
              </a:rPr>
              <a:t>El Niño, vários Brasis e o que a ciência diz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2200" y="178308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78308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51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0116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71D41"/>
                </a:solidFill>
              </a:rPr>
              <a:t>O que já existe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D6673"/>
                </a:solidFill>
              </a:rPr>
              <a:t>Ferramentas no Brasil e no mundo: o bom e o que falta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15468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071D41"/>
          </a:solidFill>
          <a:ln w="12700">
            <a:solidFill>
              <a:srgbClr val="071D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15468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6F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33832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 proposta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9D7EE"/>
                </a:solidFill>
              </a:rPr>
              <a:t>Brasil Seguro: do alerta à ação, seguro e para todos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315468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315468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51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33832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71D41"/>
                </a:solidFill>
              </a:rPr>
              <a:t>Protótipo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D6673"/>
                </a:solidFill>
              </a:rPr>
              <a:t>Experimente pelo QR code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52628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52628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51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7548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71D41"/>
                </a:solidFill>
              </a:rPr>
              <a:t>Operação e custo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D6673"/>
                </a:solidFill>
              </a:rPr>
              <a:t>Quem faz o quê; por que é viável e barato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200" y="452628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452628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51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47548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71D41"/>
                </a:solidFill>
              </a:rPr>
              <a:t>Próximos passos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D6673"/>
                </a:solidFill>
              </a:rPr>
              <a:t>Metas, roadmap e cidade conectada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943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rgbClr val="5D66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1D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El Niño não é um problema. São vários Brasis.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737360"/>
            <a:ext cx="3291840" cy="4023360"/>
          </a:xfrm>
          <a:prstGeom prst="roundRect">
            <a:avLst>
              <a:gd name="adj" fmla="val 3333"/>
            </a:avLst>
          </a:prstGeom>
          <a:solidFill>
            <a:srgbClr val="071D41"/>
          </a:solidFill>
          <a:ln w="12700">
            <a:solidFill>
              <a:srgbClr val="071D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20116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E86F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95%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2918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de chance de um El Niño muito forte entre outubro e dezembro de 2026, possivelmente um dos mais intensos desde 1950.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069080" y="1737360"/>
            <a:ext cx="2377440" cy="4023360"/>
          </a:xfrm>
          <a:prstGeom prst="roundRect">
            <a:avLst>
              <a:gd name="adj" fmla="val 4615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0" y="196596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9130" y="2137410"/>
            <a:ext cx="342900" cy="3429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29768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71D41"/>
                </a:solidFill>
              </a:rPr>
              <a:t>Sul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297680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673"/>
                </a:solidFill>
              </a:rPr>
              <a:t>Chuva extrema e enchente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297680" y="3657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351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183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4297680" y="44348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</a:rPr>
              <a:t>mortes no RS em 2024, com 2,3 milhões de afetados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629400" y="1737360"/>
            <a:ext cx="2377440" cy="4023360"/>
          </a:xfrm>
          <a:prstGeom prst="roundRect">
            <a:avLst>
              <a:gd name="adj" fmla="val 4615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0" y="196596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450" y="2137410"/>
            <a:ext cx="342900" cy="3429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85800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71D41"/>
                </a:solidFill>
              </a:rPr>
              <a:t>Norte e Nordeste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6858000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673"/>
                </a:solidFill>
              </a:rPr>
              <a:t>Seca severa e rios baixos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6858000" y="3657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6F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→ 24</a:t>
            </a:r>
            <a:endParaRPr lang="en-US" sz="3400" dirty="0"/>
          </a:p>
        </p:txBody>
      </p:sp>
      <p:sp>
        <p:nvSpPr>
          <p:cNvPr id="19" name="Text 15"/>
          <p:cNvSpPr txBox="1"/>
          <p:nvPr/>
        </p:nvSpPr>
        <p:spPr>
          <a:xfrm>
            <a:off x="6858000" y="44348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</a:rPr>
              <a:t>municípios em seca extrema em apenas um mês (set/2026)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9189720" y="1737360"/>
            <a:ext cx="2377440" cy="4023360"/>
          </a:xfrm>
          <a:prstGeom prst="roundRect">
            <a:avLst>
              <a:gd name="adj" fmla="val 4615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418320" y="196596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9770" y="2137410"/>
            <a:ext cx="342900" cy="3429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41832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71D41"/>
                </a:solidFill>
              </a:rPr>
              <a:t>Sudeste e Centro-Oeste</a:t>
            </a:r>
            <a:endParaRPr lang="en-US" sz="1350" dirty="0"/>
          </a:p>
        </p:txBody>
      </p:sp>
      <p:sp>
        <p:nvSpPr>
          <p:cNvPr id="24" name="Text 19"/>
          <p:cNvSpPr txBox="1"/>
          <p:nvPr/>
        </p:nvSpPr>
        <p:spPr>
          <a:xfrm>
            <a:off x="9418320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673"/>
                </a:solidFill>
              </a:rPr>
              <a:t>Calor extremo e queimadas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9418320" y="3657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5220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143</a:t>
            </a:r>
            <a:endParaRPr lang="en-US" sz="3400" dirty="0"/>
          </a:p>
        </p:txBody>
      </p:sp>
      <p:sp>
        <p:nvSpPr>
          <p:cNvPr id="26" name="Text 21"/>
          <p:cNvSpPr txBox="1"/>
          <p:nvPr/>
        </p:nvSpPr>
        <p:spPr>
          <a:xfrm>
            <a:off x="9418320" y="44348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</a:rPr>
              <a:t>mortes atribuídas ao calor em um único dia no RJ (nov/2023)</a:t>
            </a:r>
            <a:endParaRPr lang="en-US" sz="1250" dirty="0"/>
          </a:p>
        </p:txBody>
      </p:sp>
      <p:sp>
        <p:nvSpPr>
          <p:cNvPr id="27" name="Text 22"/>
          <p:cNvSpPr txBox="1"/>
          <p:nvPr/>
        </p:nvSpPr>
        <p:spPr>
          <a:xfrm>
            <a:off x="502920" y="5943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673"/>
                </a:solidFill>
              </a:rPr>
              <a:t>Fontes: Painel El Niño 2026–2027 (Inmet, INPE, ANA, Cemaden, SGB, Sedec); Defesa Civil RS (2024); Cemaden (set/2026); NHESS (2025).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943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rgbClr val="5D66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1D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Alertar salva vidas. A ciência já mostrou isso.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783080"/>
            <a:ext cx="2651760" cy="3749040"/>
          </a:xfrm>
          <a:prstGeom prst="roundRect">
            <a:avLst>
              <a:gd name="adj" fmla="val 4138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057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351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6×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10896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1B1B"/>
                </a:solidFill>
              </a:rPr>
              <a:t>menor mortalidade por desastres em países com bons sistemas de alerta precoce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892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D6673"/>
                </a:solidFill>
              </a:rPr>
              <a:t>ONU, Early Warnings for All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783080"/>
            <a:ext cx="2651760" cy="3749040"/>
          </a:xfrm>
          <a:prstGeom prst="roundRect">
            <a:avLst>
              <a:gd name="adj" fmla="val 4138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2057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351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546 mil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310896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1B1B"/>
                </a:solidFill>
              </a:rPr>
              <a:t>mortes por calor por ano no mundo, 23% acima dos anos 1990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4892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D6673"/>
                </a:solidFill>
              </a:rPr>
              <a:t>Lancet Countdown, 2025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783080"/>
            <a:ext cx="2651760" cy="3749040"/>
          </a:xfrm>
          <a:prstGeom prst="roundRect">
            <a:avLst>
              <a:gd name="adj" fmla="val 4138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2057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351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+7%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310896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1B1B"/>
                </a:solidFill>
              </a:rPr>
              <a:t>de intensidade da chuva extrema a cada 1 °C de aquecimento global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4892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D6673"/>
                </a:solidFill>
              </a:rPr>
              <a:t>IPCC AR6, 2021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06840" y="1783080"/>
            <a:ext cx="2651760" cy="3749040"/>
          </a:xfrm>
          <a:prstGeom prst="roundRect">
            <a:avLst>
              <a:gd name="adj" fmla="val 4138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35440" y="2057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51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R$ 4 a 36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9235440" y="310896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1B1B"/>
                </a:solidFill>
              </a:rPr>
              <a:t>em perdas evitadas para cada R$ 1 investido em alerta precoce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4892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D6673"/>
                </a:solidFill>
              </a:rPr>
              <a:t>Hallegatte, Banco Mundial, 2012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5669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6F25"/>
                </a:solidFill>
              </a:rPr>
              <a:t>Avisar funciona. Mas o aviso precisa virar ação.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943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rgbClr val="5D66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1D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Brasil já tem o alarme. Mas ele só avisa.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D6673"/>
                </a:solidFill>
              </a:rPr>
              <a:t>FERRAMENTA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79476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68821"/>
                </a:solidFill>
              </a:rPr>
              <a:t>O QUE TEM DE BOM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81812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52207"/>
                </a:solidFill>
              </a:rPr>
              <a:t>O QUE FALTA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11155680" cy="896112"/>
          </a:xfrm>
          <a:prstGeom prst="roundRect">
            <a:avLst>
              <a:gd name="adj" fmla="val 12245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03911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1D41"/>
                </a:solidFill>
              </a:rPr>
              <a:t>Defesa Civil Alerta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3"/>
                </a:solidFill>
              </a:rPr>
              <a:t>cell broadcast · desde dez/2024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2066544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114800" y="202996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</a:rPr>
              <a:t>Chega a todos os celulares da área, sem cadastro, com alerta sonoro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066544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138160" y="202996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</a:rPr>
              <a:t>Aviso genérico e de mão única; foi invadido e disparou alerta falso em jun/2026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02920" y="2907792"/>
            <a:ext cx="1115568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85800" y="302666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1D41"/>
                </a:solidFill>
              </a:rPr>
              <a:t>SMS 40199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3"/>
                </a:solidFill>
              </a:rPr>
              <a:t>Defesa Civil · cadastro por CEP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305409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114800" y="30175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</a:rPr>
              <a:t>Funciona em celular simples e sem internet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3054096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138160" y="30175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</a:rPr>
              <a:t>Exige cadastro; texto curto; não orienta nem recebe resposta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502920" y="3895344"/>
            <a:ext cx="11155680" cy="896112"/>
          </a:xfrm>
          <a:prstGeom prst="roundRect">
            <a:avLst>
              <a:gd name="adj" fmla="val 12245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85800" y="401421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1D41"/>
                </a:solidFill>
              </a:rPr>
              <a:t>Alertas por WhatsApp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3"/>
                </a:solidFill>
              </a:rPr>
              <a:t>Defesa Civil Nacional · desde 2022</a:t>
            </a:r>
            <a:endParaRPr lang="en-US" sz="14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404164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114800" y="4005072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</a:rPr>
              <a:t>Usa o canal mais popular do país</a:t>
            </a:r>
            <a:endParaRPr lang="en-US" sz="13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4041648"/>
            <a:ext cx="237744" cy="237744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138160" y="400507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</a:rPr>
              <a:t>Só envia alertas: não mostra abrigo, não recebe pedidos de ajuda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502920" y="4882896"/>
            <a:ext cx="1115568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685800" y="50017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1D41"/>
                </a:solidFill>
              </a:rPr>
              <a:t>Apps municipais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3"/>
                </a:solidFill>
              </a:rPr>
              <a:t>ex.: Alerta Rio, AlertaBlu (Blumenau)</a:t>
            </a:r>
            <a:endParaRPr lang="en-US" sz="14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4760" y="5029200"/>
            <a:ext cx="237744" cy="237744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4114800" y="4992624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</a:rPr>
              <a:t>Informação local e detalhada</a:t>
            </a:r>
            <a:endParaRPr lang="en-US" sz="13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8120" y="5029200"/>
            <a:ext cx="237744" cy="237744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8138160" y="4992624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</a:rPr>
              <a:t>Cada cidade tem o seu; a maioria dos municípios não tem nenhum</a:t>
            </a:r>
            <a:endParaRPr lang="en-US" sz="1300" dirty="0"/>
          </a:p>
        </p:txBody>
      </p:sp>
      <p:sp>
        <p:nvSpPr>
          <p:cNvPr id="30" name="Text 20"/>
          <p:cNvSpPr txBox="1"/>
          <p:nvPr/>
        </p:nvSpPr>
        <p:spPr>
          <a:xfrm>
            <a:off x="502920" y="5943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673"/>
                </a:solidFill>
              </a:rPr>
              <a:t>Fontes: DPL News (2024); Convergência Digital (2022); Agência Brasil (2026); GeneXus/AlertaBlu.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943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rgbClr val="5D66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1D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mundo resolveu partes. Ninguém juntou tudo.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D6673"/>
                </a:solidFill>
              </a:rPr>
              <a:t>FERRAMENTA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79476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68821"/>
                </a:solidFill>
              </a:rPr>
              <a:t>O QUE TEM DE BOM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81812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52207"/>
                </a:solidFill>
              </a:rPr>
              <a:t>O QUE FALTA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11155680" cy="896112"/>
          </a:xfrm>
          <a:prstGeom prst="roundRect">
            <a:avLst>
              <a:gd name="adj" fmla="val 12245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03911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1D41"/>
                </a:solidFill>
              </a:rPr>
              <a:t>EUA: IPAWS + app FEMA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3"/>
                </a:solidFill>
              </a:rPr>
              <a:t>alerta padrão CAP + aplicativo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2066544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114800" y="202996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</a:rPr>
              <a:t>Cada alerta é assinado digitalmente; app mostra abrigos e auxílio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066544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138160" y="202996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</a:rPr>
              <a:t>Alerta e app são separados; o cidadão precisa juntar as peças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02920" y="2907792"/>
            <a:ext cx="1115568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85800" y="302666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1D41"/>
                </a:solidFill>
              </a:rPr>
              <a:t>Japão: J-Alert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3"/>
                </a:solidFill>
              </a:rPr>
              <a:t>satélite, alto-falantes e celular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305409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114800" y="30175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</a:rPr>
              <a:t>Chega aos municípios em cerca de 1 segundo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3054096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138160" y="30175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</a:rPr>
              <a:t>Foco em sirene e aviso; pouca resposta do cidadão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502920" y="3895344"/>
            <a:ext cx="11155680" cy="896112"/>
          </a:xfrm>
          <a:prstGeom prst="roundRect">
            <a:avLst>
              <a:gd name="adj" fmla="val 12245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85800" y="401421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1D41"/>
                </a:solidFill>
              </a:rPr>
              <a:t>União Europeia: EU-Alert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3"/>
                </a:solidFill>
              </a:rPr>
              <a:t>cell broadcast · diretiva desde 2022</a:t>
            </a:r>
            <a:endParaRPr lang="en-US" sz="14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404164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114800" y="4005072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</a:rPr>
              <a:t>Obrigatório por lei em todos os países</a:t>
            </a:r>
            <a:endParaRPr lang="en-US" sz="13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4041648"/>
            <a:ext cx="237744" cy="237744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138160" y="400507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</a:rPr>
              <a:t>Só aviso; implementação desigual entre países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502920" y="4882896"/>
            <a:ext cx="1115568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685800" y="50017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1D41"/>
                </a:solidFill>
              </a:rPr>
              <a:t>Índia: Sachet (NDMA)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D6673"/>
                </a:solidFill>
              </a:rPr>
              <a:t>portal, SMS e app</a:t>
            </a:r>
            <a:endParaRPr lang="en-US" sz="14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4760" y="5029200"/>
            <a:ext cx="237744" cy="237744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4114800" y="4992624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</a:rPr>
              <a:t>12 idiomas e leitura em voz alta</a:t>
            </a:r>
            <a:endParaRPr lang="en-US" sz="13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8120" y="5029200"/>
            <a:ext cx="237744" cy="237744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8138160" y="4992624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</a:rPr>
              <a:t>Portal centralizado, pouca orientação depois do alerta</a:t>
            </a:r>
            <a:endParaRPr lang="en-US" sz="1300" dirty="0"/>
          </a:p>
        </p:txBody>
      </p:sp>
      <p:sp>
        <p:nvSpPr>
          <p:cNvPr id="30" name="Text 20"/>
          <p:cNvSpPr txBox="1"/>
          <p:nvPr/>
        </p:nvSpPr>
        <p:spPr>
          <a:xfrm>
            <a:off x="502920" y="5943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673"/>
                </a:solidFill>
              </a:rPr>
              <a:t>Fontes: Congressional Research Service (2026); NDMA/Sachet; Diretiva (UE) 2018/1972; FCC (2018).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943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rgbClr val="5D66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1D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 junho, 30 milhões acordaram com um alerta falso.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82880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071D41"/>
          </a:solidFill>
          <a:ln w="12700">
            <a:solidFill>
              <a:srgbClr val="071D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2148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F25"/>
                </a:solidFill>
              </a:rPr>
              <a:t>ALERTA EXTREMO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6060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"Defesa Civil: misantropia"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7490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7EE"/>
                </a:solidFill>
              </a:rPr>
              <a:t>Madrugada de 20/06/2026 · 8 capitais · sinal sonoro de emergência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89320" y="18288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1D41"/>
                </a:solidFill>
              </a:rPr>
              <a:t>O que houve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89320" y="2176272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Um invasor acessou o sistema e disparou o alerta remotamente. A plataforma foi desligada e a Polícia Federal investiga.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303580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1D41"/>
                </a:solidFill>
              </a:rPr>
              <a:t>Por que importa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989320" y="33832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Cada alerta falso ensina a população a ignorar o próximo, inclusive o verdadeiro.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4242816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8821"/>
                </a:solidFill>
              </a:rPr>
              <a:t>A lição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4590288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Confiança é infraestrutura crítica: todo alerta precisa ser assinado, aprovado por duas pessoas e auditável.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5943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673"/>
                </a:solidFill>
              </a:rPr>
              <a:t>Fontes: Agência Brasil (20/06/2026); Band Paraná (2026). O total de 30 milhões é estimativa da imprensa.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943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rgbClr val="5D66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1D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Brasil já tem o alarme. Falta o plano de fuga.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691640"/>
            <a:ext cx="5394960" cy="548640"/>
          </a:xfrm>
          <a:prstGeom prst="roundRect">
            <a:avLst>
              <a:gd name="adj" fmla="val 20000"/>
            </a:avLst>
          </a:prstGeom>
          <a:solidFill>
            <a:srgbClr val="E9ECF1"/>
          </a:solidFill>
          <a:ln w="12700">
            <a:solidFill>
              <a:srgbClr val="E9EC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63640" y="1691640"/>
            <a:ext cx="5394960" cy="548640"/>
          </a:xfrm>
          <a:prstGeom prst="roundRect">
            <a:avLst>
              <a:gd name="adj" fmla="val 20000"/>
            </a:avLst>
          </a:prstGeom>
          <a:solidFill>
            <a:srgbClr val="1351B4"/>
          </a:solidFill>
          <a:ln w="12700">
            <a:solidFill>
              <a:srgbClr val="1351B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D6673"/>
                </a:solidFill>
              </a:rPr>
              <a:t>COMO É HOJE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92240" y="16916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</a:rPr>
              <a:t>COM O BRASIL SEGURO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774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673"/>
                </a:solidFill>
              </a:rPr>
              <a:t>"Risco na região": aviso genérico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2514600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92240" y="23774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D41"/>
                </a:solidFill>
              </a:rPr>
              <a:t>Status do seu bairro e 3 passos em ordem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1520" y="2926080"/>
            <a:ext cx="10881360" cy="0"/>
          </a:xfrm>
          <a:prstGeom prst="line">
            <a:avLst/>
          </a:prstGeom>
          <a:noFill/>
          <a:ln w="9525">
            <a:solidFill>
              <a:srgbClr val="E3E7E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98094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673"/>
                </a:solidFill>
              </a:rPr>
              <a:t>Mão única: ninguém responde</a:t>
            </a:r>
            <a:endParaRPr lang="en-US" sz="15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118104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492240" y="298094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D41"/>
                </a:solidFill>
              </a:rPr>
              <a:t>Botões "Estou bem" e "Preciso de ajuda"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31520" y="3529584"/>
            <a:ext cx="10881360" cy="0"/>
          </a:xfrm>
          <a:prstGeom prst="line">
            <a:avLst/>
          </a:prstGeom>
          <a:noFill/>
          <a:ln w="9525">
            <a:solidFill>
              <a:srgbClr val="E3E7E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1520" y="358444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673"/>
                </a:solidFill>
              </a:rPr>
              <a:t>Sem saber para onde ir</a:t>
            </a:r>
            <a:endParaRPr lang="en-US" sz="15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721608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92240" y="358444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D41"/>
                </a:solidFill>
              </a:rPr>
              <a:t>Abrigos e pontos de apoio com lotação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731520" y="4133088"/>
            <a:ext cx="10881360" cy="0"/>
          </a:xfrm>
          <a:prstGeom prst="line">
            <a:avLst/>
          </a:prstGeom>
          <a:noFill/>
          <a:ln w="9525">
            <a:solidFill>
              <a:srgbClr val="E3E7ED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31520" y="418795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673"/>
                </a:solidFill>
              </a:rPr>
              <a:t>Boatos e alertas falsos</a:t>
            </a:r>
            <a:endParaRPr lang="en-US" sz="15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4325112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92240" y="418795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D41"/>
                </a:solidFill>
              </a:rPr>
              <a:t>"Isso é real?" e alerta com assinatura digital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731520" y="4736592"/>
            <a:ext cx="10881360" cy="0"/>
          </a:xfrm>
          <a:prstGeom prst="line">
            <a:avLst/>
          </a:prstGeom>
          <a:noFill/>
          <a:ln w="9525">
            <a:solidFill>
              <a:srgbClr val="E3E7ED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731520" y="479145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673"/>
                </a:solidFill>
              </a:rPr>
              <a:t>Só funciona com sinal e internet</a:t>
            </a:r>
            <a:endParaRPr lang="en-US" sz="15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4928616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492240" y="479145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D41"/>
                </a:solidFill>
              </a:rPr>
              <a:t>Guias e mapa salvos no celular para usar offline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731520" y="5340096"/>
            <a:ext cx="10881360" cy="0"/>
          </a:xfrm>
          <a:prstGeom prst="line">
            <a:avLst/>
          </a:prstGeom>
          <a:noFill/>
          <a:ln w="9525">
            <a:solidFill>
              <a:srgbClr val="E3E7ED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731520" y="53949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673"/>
                </a:solidFill>
              </a:rPr>
              <a:t>Igual para todos</a:t>
            </a:r>
            <a:endParaRPr lang="en-US" sz="15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5532120"/>
            <a:ext cx="228600" cy="2286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492240" y="53949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D41"/>
                </a:solidFill>
              </a:rPr>
              <a:t>Perfil: letra grande, áudio, Libras, linguagem simples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943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rgbClr val="5D66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1D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Brasil Seguro: um só serviço, antes, durante e depois.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783080"/>
            <a:ext cx="3611880" cy="3977640"/>
          </a:xfrm>
          <a:prstGeom prst="roundRect">
            <a:avLst>
              <a:gd name="adj" fmla="val 3038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2057400"/>
            <a:ext cx="731520" cy="731520"/>
          </a:xfrm>
          <a:prstGeom prst="ellipse">
            <a:avLst/>
          </a:prstGeom>
          <a:solidFill>
            <a:srgbClr val="1351B4"/>
          </a:solidFill>
          <a:ln w="12700">
            <a:solidFill>
              <a:srgbClr val="1351B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402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51B4"/>
                </a:solidFill>
              </a:rPr>
              <a:t>ANTES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23957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71D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Preparar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10896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</a:rPr>
              <a:t>Guias por evento, ordenados pelo risco da região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</a:rPr>
              <a:t>Cadastro opcional com gov.br: perfil da casa (idosos, PcD, pets)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</a:rPr>
              <a:t>Kit de emergência e rede de confiança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611880" cy="3977640"/>
          </a:xfrm>
          <a:prstGeom prst="roundRect">
            <a:avLst>
              <a:gd name="adj" fmla="val 3038"/>
            </a:avLst>
          </a:prstGeom>
          <a:solidFill>
            <a:srgbClr val="071D41"/>
          </a:solidFill>
          <a:ln w="12700">
            <a:solidFill>
              <a:srgbClr val="071D4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2057400"/>
            <a:ext cx="731520" cy="731520"/>
          </a:xfrm>
          <a:prstGeom prst="ellipse">
            <a:avLst/>
          </a:prstGeom>
          <a:solidFill>
            <a:srgbClr val="E86F25"/>
          </a:solidFill>
          <a:ln w="12700">
            <a:solidFill>
              <a:srgbClr val="E86F2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2402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F25"/>
                </a:solidFill>
              </a:rPr>
              <a:t>DURANTE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486400" y="23957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Agir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10896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Status atual e o que fazer, em 3 passos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Locais seguros mais próximos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"Estou bem" / "Preciso de ajuda" e "Isso é real?"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92440" y="1783080"/>
            <a:ext cx="3611880" cy="3977640"/>
          </a:xfrm>
          <a:prstGeom prst="roundRect">
            <a:avLst>
              <a:gd name="adj" fmla="val 3038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66760" y="2057400"/>
            <a:ext cx="731520" cy="731520"/>
          </a:xfrm>
          <a:prstGeom prst="ellipse">
            <a:avLst/>
          </a:prstGeom>
          <a:solidFill>
            <a:srgbClr val="1351B4"/>
          </a:solidFill>
          <a:ln w="12700">
            <a:solidFill>
              <a:srgbClr val="1351B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28116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51B4"/>
                </a:solidFill>
              </a:rPr>
              <a:t>DEPOIS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9281160" y="23957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71D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Recuperar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310896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</a:rPr>
              <a:t>Direitos: FGTS calamidade, auxílios, Garantia-Safra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</a:rPr>
              <a:t>Doações e voluntários organizados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</a:rPr>
              <a:t>Pessoas e pets desaparecidos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02920" y="58521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8821"/>
                </a:solidFill>
              </a:rPr>
              <a:t>Inovação social: a tecnologia é simples; o novo é organizar o cuidado entre poder público, vizinhos e quem mais precisa.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943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rgbClr val="5D66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1D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funciona: do alerta oficial à resposta, em segundos.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783080"/>
            <a:ext cx="2514600" cy="2514600"/>
          </a:xfrm>
          <a:prstGeom prst="roundRect">
            <a:avLst>
              <a:gd name="adj" fmla="val 4364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1351B4"/>
          </a:solidFill>
          <a:ln w="12700">
            <a:solidFill>
              <a:srgbClr val="1351B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1717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71D41"/>
                </a:solidFill>
              </a:rPr>
              <a:t>Alerta oficial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1546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</a:rPr>
              <a:t>Cemaden e Inmet emitem; IDAP envia com assinatura digital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2" y="2898648"/>
            <a:ext cx="228600" cy="228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383280" y="1783080"/>
            <a:ext cx="2514600" cy="2514600"/>
          </a:xfrm>
          <a:prstGeom prst="roundRect">
            <a:avLst>
              <a:gd name="adj" fmla="val 4364"/>
            </a:avLst>
          </a:prstGeom>
          <a:solidFill>
            <a:srgbClr val="071D41"/>
          </a:solidFill>
          <a:ln w="12700">
            <a:solidFill>
              <a:srgbClr val="071D4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611880" y="2011680"/>
            <a:ext cx="640080" cy="640080"/>
          </a:xfrm>
          <a:prstGeom prst="ellipse">
            <a:avLst/>
          </a:prstGeom>
          <a:solidFill>
            <a:srgbClr val="E86F25"/>
          </a:solidFill>
          <a:ln w="12700">
            <a:solidFill>
              <a:srgbClr val="E86F25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0" y="217170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61188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Brasil Seguro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611880" y="31546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7EE"/>
                </a:solidFill>
              </a:rPr>
              <a:t>Identifica o bairro pela localização, calculada no próprio aparelho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2898648"/>
            <a:ext cx="228600" cy="2286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263640" y="1783080"/>
            <a:ext cx="2514600" cy="2514600"/>
          </a:xfrm>
          <a:prstGeom prst="roundRect">
            <a:avLst>
              <a:gd name="adj" fmla="val 4364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6492240" y="2011680"/>
            <a:ext cx="640080" cy="640080"/>
          </a:xfrm>
          <a:prstGeom prst="ellipse">
            <a:avLst/>
          </a:prstGeom>
          <a:solidFill>
            <a:srgbClr val="1351B4"/>
          </a:solidFill>
          <a:ln w="12700">
            <a:solidFill>
              <a:srgbClr val="1351B4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2260" y="2171700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49224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71D41"/>
                </a:solidFill>
              </a:rPr>
              <a:t>Cidadão</a:t>
            </a:r>
            <a:endParaRPr lang="en-US" sz="1600" dirty="0"/>
          </a:p>
        </p:txBody>
      </p:sp>
      <p:sp>
        <p:nvSpPr>
          <p:cNvPr id="19" name="Text 12"/>
          <p:cNvSpPr txBox="1"/>
          <p:nvPr/>
        </p:nvSpPr>
        <p:spPr>
          <a:xfrm>
            <a:off x="6492240" y="31546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</a:rPr>
              <a:t>Vê status e passos, acha local seguro, avisa "Estou bem"</a:t>
            </a:r>
            <a:endParaRPr lang="en-US" sz="12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1392" y="2898648"/>
            <a:ext cx="228600" cy="22860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9144000" y="1783080"/>
            <a:ext cx="2514600" cy="2514600"/>
          </a:xfrm>
          <a:prstGeom prst="roundRect">
            <a:avLst>
              <a:gd name="adj" fmla="val 4364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9372600" y="2011680"/>
            <a:ext cx="640080" cy="640080"/>
          </a:xfrm>
          <a:prstGeom prst="ellipse">
            <a:avLst/>
          </a:prstGeom>
          <a:solidFill>
            <a:srgbClr val="1351B4"/>
          </a:solidFill>
          <a:ln w="12700">
            <a:solidFill>
              <a:srgbClr val="1351B4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2620" y="2171700"/>
            <a:ext cx="320040" cy="32004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937260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71D41"/>
                </a:solidFill>
              </a:rPr>
              <a:t>Defesa Civil</a:t>
            </a:r>
            <a:endParaRPr lang="en-US" sz="1600" dirty="0"/>
          </a:p>
        </p:txBody>
      </p:sp>
      <p:sp>
        <p:nvSpPr>
          <p:cNvPr id="25" name="Text 16"/>
          <p:cNvSpPr txBox="1"/>
          <p:nvPr/>
        </p:nvSpPr>
        <p:spPr>
          <a:xfrm>
            <a:off x="9372600" y="31546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</a:rPr>
              <a:t>Recebe pedidos de ajuda e ocorrências no painel</a:t>
            </a:r>
            <a:endParaRPr lang="en-US" sz="1250" dirty="0"/>
          </a:p>
        </p:txBody>
      </p:sp>
      <p:sp>
        <p:nvSpPr>
          <p:cNvPr id="26" name="Text 17"/>
          <p:cNvSpPr txBox="1"/>
          <p:nvPr/>
        </p:nvSpPr>
        <p:spPr>
          <a:xfrm>
            <a:off x="502920" y="44805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D6673"/>
                </a:solidFill>
              </a:rPr>
              <a:t>UM APP SÓ (CELULAR E COMPUTADOR) · FUNCIONA EM 3 SITUAÇÕES</a:t>
            </a:r>
            <a:endParaRPr lang="en-US" sz="1100" dirty="0"/>
          </a:p>
        </p:txBody>
      </p:sp>
      <p:sp>
        <p:nvSpPr>
          <p:cNvPr id="27" name="Shape 18"/>
          <p:cNvSpPr/>
          <p:nvPr/>
        </p:nvSpPr>
        <p:spPr>
          <a:xfrm>
            <a:off x="502920" y="4846320"/>
            <a:ext cx="3611880" cy="1005840"/>
          </a:xfrm>
          <a:prstGeom prst="roundRect">
            <a:avLst>
              <a:gd name="adj" fmla="val 10909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28" name="Shape 19"/>
          <p:cNvSpPr/>
          <p:nvPr/>
        </p:nvSpPr>
        <p:spPr>
          <a:xfrm>
            <a:off x="685800" y="5010912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820" y="5170932"/>
            <a:ext cx="320040" cy="32004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1463040" y="49377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71D41"/>
                </a:solidFill>
              </a:rPr>
              <a:t>Com internet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</a:rPr>
              <a:t>Tudo em tempo real: status, locais com lotação e pedidos de ajuda.</a:t>
            </a:r>
            <a:endParaRPr lang="en-US" sz="1400" dirty="0"/>
          </a:p>
        </p:txBody>
      </p:sp>
      <p:sp>
        <p:nvSpPr>
          <p:cNvPr id="31" name="Shape 21"/>
          <p:cNvSpPr/>
          <p:nvPr/>
        </p:nvSpPr>
        <p:spPr>
          <a:xfrm>
            <a:off x="4297680" y="4846320"/>
            <a:ext cx="3611880" cy="1005840"/>
          </a:xfrm>
          <a:prstGeom prst="roundRect">
            <a:avLst>
              <a:gd name="adj" fmla="val 10909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4480560" y="5010912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0580" y="5170932"/>
            <a:ext cx="320040" cy="32004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5257800" y="49377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71D41"/>
                </a:solidFill>
              </a:rPr>
              <a:t>Sem internet, com sinal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</a:rPr>
              <a:t>O alerta da Defesa Civil chega como hoje; o app mostra os passos e locais salvos.</a:t>
            </a:r>
            <a:endParaRPr lang="en-US" sz="1400" dirty="0"/>
          </a:p>
        </p:txBody>
      </p:sp>
      <p:sp>
        <p:nvSpPr>
          <p:cNvPr id="35" name="Shape 24"/>
          <p:cNvSpPr/>
          <p:nvPr/>
        </p:nvSpPr>
        <p:spPr>
          <a:xfrm>
            <a:off x="8092440" y="4846320"/>
            <a:ext cx="3611880" cy="1005840"/>
          </a:xfrm>
          <a:prstGeom prst="roundRect">
            <a:avLst>
              <a:gd name="adj" fmla="val 10909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36" name="Shape 25"/>
          <p:cNvSpPr/>
          <p:nvPr/>
        </p:nvSpPr>
        <p:spPr>
          <a:xfrm>
            <a:off x="8275320" y="5010912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35340" y="5170932"/>
            <a:ext cx="320040" cy="320040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9052560" y="49377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71D41"/>
                </a:solidFill>
              </a:rPr>
              <a:t>Sem sinal nenhum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</a:rPr>
              <a:t>Continua vendo o que está salvo; o pedido de ajuda é enviado quando o sinal voltar.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943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rgbClr val="5D66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1D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o cidadão vê: claro, calmo e em ordem.</a:t>
            </a:r>
            <a:endParaRPr lang="en-US" sz="3000" dirty="0"/>
          </a:p>
        </p:txBody>
      </p:sp>
      <p:pic>
        <p:nvPicPr>
          <p:cNvPr id="3" name="Image 0" descr="s-urca-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554480"/>
            <a:ext cx="2103120" cy="33921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9496" y="1554480"/>
            <a:ext cx="2103120" cy="3392129"/>
          </a:xfrm>
          <a:prstGeom prst="rect">
            <a:avLst/>
          </a:prstGeom>
          <a:ln w="12700">
            <a:solidFill>
              <a:srgbClr val="C9D2D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5038049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71D41"/>
                </a:solidFill>
              </a:rPr>
              <a:t>Agora</a:t>
            </a:r>
            <a:endParaRPr lang="en-US" sz="13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D6673"/>
                </a:solidFill>
              </a:rPr>
              <a:t>Status e passos em ordem</a:t>
            </a:r>
            <a:endParaRPr lang="en-US" sz="1350" dirty="0"/>
          </a:p>
        </p:txBody>
      </p:sp>
      <p:pic>
        <p:nvPicPr>
          <p:cNvPr id="6" name="Image 1" descr="s-alertas-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208" y="1554480"/>
            <a:ext cx="2103120" cy="339212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807208" y="1554480"/>
            <a:ext cx="2103120" cy="3392129"/>
          </a:xfrm>
          <a:prstGeom prst="rect">
            <a:avLst/>
          </a:prstGeom>
          <a:ln w="12700">
            <a:solidFill>
              <a:srgbClr val="C9D2DE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2770632" y="5038049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71D41"/>
                </a:solidFill>
              </a:rPr>
              <a:t>Isso é real?</a:t>
            </a:r>
            <a:endParaRPr lang="en-US" sz="13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D6673"/>
                </a:solidFill>
              </a:rPr>
              <a:t>Oficial × boato</a:t>
            </a:r>
            <a:endParaRPr lang="en-US" sz="1350" dirty="0"/>
          </a:p>
        </p:txBody>
      </p:sp>
      <p:pic>
        <p:nvPicPr>
          <p:cNvPr id="9" name="Image 2" descr="s-locais-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554480"/>
            <a:ext cx="2103120" cy="3392129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074920" y="1554480"/>
            <a:ext cx="2103120" cy="3392129"/>
          </a:xfrm>
          <a:prstGeom prst="rect">
            <a:avLst/>
          </a:prstGeom>
          <a:ln w="12700">
            <a:solidFill>
              <a:srgbClr val="C9D2DE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5038344" y="5038049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71D41"/>
                </a:solidFill>
              </a:rPr>
              <a:t>Locais seguros</a:t>
            </a:r>
            <a:endParaRPr lang="en-US" sz="13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D6673"/>
                </a:solidFill>
              </a:rPr>
              <a:t>Cadastrados por município e estado</a:t>
            </a:r>
            <a:endParaRPr lang="en-US" sz="1350" dirty="0"/>
          </a:p>
        </p:txBody>
      </p:sp>
      <p:pic>
        <p:nvPicPr>
          <p:cNvPr id="12" name="Image 3" descr="s-guias-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632" y="1554480"/>
            <a:ext cx="2103120" cy="3392129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7342632" y="1554480"/>
            <a:ext cx="2103120" cy="3392129"/>
          </a:xfrm>
          <a:prstGeom prst="rect">
            <a:avLst/>
          </a:prstGeom>
          <a:ln w="12700">
            <a:solidFill>
              <a:srgbClr val="C9D2DE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7306056" y="5038049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71D41"/>
                </a:solidFill>
              </a:rPr>
              <a:t>Guias</a:t>
            </a:r>
            <a:endParaRPr lang="en-US" sz="13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D6673"/>
                </a:solidFill>
              </a:rPr>
              <a:t>Ordenados pelos riscos locais</a:t>
            </a:r>
            <a:endParaRPr lang="en-US" sz="1350" dirty="0"/>
          </a:p>
        </p:txBody>
      </p:sp>
      <p:pic>
        <p:nvPicPr>
          <p:cNvPr id="15" name="Image 4" descr="s-ajuda-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0344" y="1554480"/>
            <a:ext cx="2103120" cy="3392129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610344" y="1554480"/>
            <a:ext cx="2103120" cy="3392129"/>
          </a:xfrm>
          <a:prstGeom prst="rect">
            <a:avLst/>
          </a:prstGeom>
          <a:ln w="12700">
            <a:solidFill>
              <a:srgbClr val="C9D2DE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9573768" y="5038049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71D41"/>
                </a:solidFill>
              </a:rPr>
              <a:t>Ajuda</a:t>
            </a:r>
            <a:endParaRPr lang="en-US" sz="13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D6673"/>
                </a:solidFill>
              </a:rPr>
              <a:t>Ligar 193, 199, 192, 190 e rede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943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rgbClr val="5D66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1D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Seguro contra ataques. Feito para todos.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737360"/>
            <a:ext cx="5486400" cy="4069080"/>
          </a:xfrm>
          <a:prstGeom prst="roundRect">
            <a:avLst>
              <a:gd name="adj" fmla="val 2697"/>
            </a:avLst>
          </a:prstGeom>
          <a:solidFill>
            <a:srgbClr val="071D41"/>
          </a:solidFill>
          <a:ln w="12700">
            <a:solidFill>
              <a:srgbClr val="071D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rgbClr val="E86F25"/>
          </a:solidFill>
          <a:ln w="12700">
            <a:solidFill>
              <a:srgbClr val="E86F2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945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2148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Segurança e confiança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7180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Conta gov.br no primeiro acesso, opcional e não bloqueante: ajuda a identificar pessoas e locais de risco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Assinatura digital ICP-Brasil em cada alerta (padrão CAP): alerta falso não abre o app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Login com dois fatores e dupla aprovação para disparar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Auditoria pública de cada alerta; localização processada no aparelho (LGPD)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Linguagem calma, sem pânico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72200" y="1737360"/>
            <a:ext cx="5486400" cy="4069080"/>
          </a:xfrm>
          <a:prstGeom prst="roundRect">
            <a:avLst>
              <a:gd name="adj" fmla="val 269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92240" y="2011680"/>
            <a:ext cx="731520" cy="731520"/>
          </a:xfrm>
          <a:prstGeom prst="ellipse">
            <a:avLst/>
          </a:prstGeom>
          <a:solidFill>
            <a:srgbClr val="1351B4"/>
          </a:solidFill>
          <a:ln w="12700">
            <a:solidFill>
              <a:srgbClr val="1351B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1945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06640" y="2148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71D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Acessibilidade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97180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</a:rPr>
              <a:t>Uma pergunta no primeiro acesso define o perfil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</a:rPr>
              <a:t>Pessoa idosa: letra grande e linguagem simples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</a:rPr>
              <a:t>Baixa visão: alto contraste; quem prefere ouvir: leitura em voz alta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</a:rPr>
              <a:t>Pessoa surda: vídeo em Libras em cada alerta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</a:rPr>
              <a:t>Meta: WCAG 2.1 nível AA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943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rgbClr val="5D66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1D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Experimente agora: cada bairro, a sua orientação.</a:t>
            </a:r>
            <a:endParaRPr lang="en-US" sz="3000" dirty="0"/>
          </a:p>
        </p:txBody>
      </p:sp>
      <p:pic>
        <p:nvPicPr>
          <p:cNvPr id="3" name="Image 0" descr="s-urca-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2286000" cy="368709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554480"/>
            <a:ext cx="2286000" cy="3687097"/>
          </a:xfrm>
          <a:prstGeom prst="rect">
            <a:avLst/>
          </a:prstGeom>
          <a:ln w="12700">
            <a:solidFill>
              <a:srgbClr val="C9D2D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5349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D41"/>
                </a:solidFill>
              </a:rPr>
              <a:t>Urca (RJ)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D6673"/>
                </a:solidFill>
              </a:rPr>
              <a:t>Calor extremo</a:t>
            </a:r>
            <a:endParaRPr lang="en-US" sz="1300" dirty="0"/>
          </a:p>
        </p:txBody>
      </p:sp>
      <p:pic>
        <p:nvPicPr>
          <p:cNvPr id="6" name="Image 1" descr="s-alemao-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554480"/>
            <a:ext cx="2286000" cy="368709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246120" y="1554480"/>
            <a:ext cx="2286000" cy="3687097"/>
          </a:xfrm>
          <a:prstGeom prst="rect">
            <a:avLst/>
          </a:prstGeom>
          <a:ln w="12700">
            <a:solidFill>
              <a:srgbClr val="C9D2DE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3200400" y="5349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D41"/>
                </a:solidFill>
              </a:rPr>
              <a:t>Complexo do Alemão (RJ)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D6673"/>
                </a:solidFill>
              </a:rPr>
              <a:t>Risco de deslizamento</a:t>
            </a:r>
            <a:endParaRPr lang="en-US" sz="1300" dirty="0"/>
          </a:p>
        </p:txBody>
      </p:sp>
      <p:pic>
        <p:nvPicPr>
          <p:cNvPr id="9" name="Image 2" descr="s-pb-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554480"/>
            <a:ext cx="2286000" cy="3687097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943600" y="1554480"/>
            <a:ext cx="2286000" cy="3687097"/>
          </a:xfrm>
          <a:prstGeom prst="rect">
            <a:avLst/>
          </a:prstGeom>
          <a:ln w="12700">
            <a:solidFill>
              <a:srgbClr val="C9D2DE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5897880" y="5349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D41"/>
                </a:solidFill>
              </a:rPr>
              <a:t>Patos (PB)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D6673"/>
                </a:solidFill>
              </a:rPr>
              <a:t>Seca severa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8732520" y="1645920"/>
            <a:ext cx="2926080" cy="4297680"/>
          </a:xfrm>
          <a:prstGeom prst="roundRect">
            <a:avLst>
              <a:gd name="adj" fmla="val 3750"/>
            </a:avLst>
          </a:prstGeom>
          <a:solidFill>
            <a:srgbClr val="071D41"/>
          </a:solidFill>
          <a:ln w="12700">
            <a:solidFill>
              <a:srgbClr val="071D41"/>
            </a:solidFill>
            <a:prstDash val="solid"/>
          </a:ln>
        </p:spPr>
      </p:sp>
      <p:pic>
        <p:nvPicPr>
          <p:cNvPr id="13" name="Image 3" descr="qr-urc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1920240"/>
            <a:ext cx="2377440" cy="23774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732520" y="4434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Aponte a câmera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8732520" y="4800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7EE"/>
                </a:solidFill>
              </a:rPr>
              <a:t>brasilseguro.kbrianps.com.br/rj/urca</a:t>
            </a:r>
            <a:endParaRPr lang="en-US" sz="1100" dirty="0"/>
          </a:p>
        </p:txBody>
      </p:sp>
      <p:sp>
        <p:nvSpPr>
          <p:cNvPr id="16" name="Text 10"/>
          <p:cNvSpPr txBox="1"/>
          <p:nvPr/>
        </p:nvSpPr>
        <p:spPr>
          <a:xfrm>
            <a:off x="8732520" y="5212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3D1"/>
                </a:solidFill>
              </a:rPr>
              <a:t>Protótipo estático com dados simulados · celular e computador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943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rgbClr val="5D66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1D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Simples para quem opera: só navegador e celular.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D6673"/>
                </a:solidFill>
              </a:rPr>
              <a:t>Sem servidores locais e sem máquinas novas: a plataforma roda na nuvem de governo mantida pela União.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3611880" cy="3520440"/>
          </a:xfrm>
          <a:prstGeom prst="roundRect">
            <a:avLst>
              <a:gd name="adj" fmla="val 311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94560"/>
            <a:ext cx="731520" cy="731520"/>
          </a:xfrm>
          <a:prstGeom prst="ellipse">
            <a:avLst/>
          </a:prstGeom>
          <a:solidFill>
            <a:srgbClr val="1351B4"/>
          </a:solidFill>
          <a:ln w="12700">
            <a:solidFill>
              <a:srgbClr val="1351B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3774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2128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71D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União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6334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673"/>
                </a:solidFill>
              </a:rPr>
              <a:t>Defesa Civil Nacional, Cemaden, Inmet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" y="324612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351B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51B4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322783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</a:rPr>
              <a:t>Mantém a plataforma na nuvem de governo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77240" y="3959352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351B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51B4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94106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</a:rPr>
              <a:t>Envia o alerta oficial assinado (IDAP)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77240" y="4672584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351B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4672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51B4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465429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</a:rPr>
              <a:t>Publica modelos prontos de guias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297680" y="1965960"/>
            <a:ext cx="3611880" cy="3520440"/>
          </a:xfrm>
          <a:prstGeom prst="roundRect">
            <a:avLst>
              <a:gd name="adj" fmla="val 311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0" y="2194560"/>
            <a:ext cx="731520" cy="731520"/>
          </a:xfrm>
          <a:prstGeom prst="ellipse">
            <a:avLst/>
          </a:prstGeom>
          <a:solidFill>
            <a:srgbClr val="1351B4"/>
          </a:solidFill>
          <a:ln w="12700">
            <a:solidFill>
              <a:srgbClr val="1351B4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377440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486400" y="22128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71D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Estado</a:t>
            </a:r>
            <a:endParaRPr lang="en-US" sz="2200" dirty="0"/>
          </a:p>
        </p:txBody>
      </p:sp>
      <p:sp>
        <p:nvSpPr>
          <p:cNvPr id="22" name="Text 18"/>
          <p:cNvSpPr txBox="1"/>
          <p:nvPr/>
        </p:nvSpPr>
        <p:spPr>
          <a:xfrm>
            <a:off x="5486400" y="26334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673"/>
                </a:solidFill>
              </a:rPr>
              <a:t>Defesa Civil estadual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572000" y="324612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351B4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57200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51B4"/>
                </a:solidFill>
              </a:rPr>
              <a:t>1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5074920" y="322783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</a:rPr>
              <a:t>Aprova cada disparo (segunda assinatura)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4572000" y="3959352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351B4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57200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51B4"/>
                </a:solidFill>
              </a:rPr>
              <a:t>2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5074920" y="394106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</a:rPr>
              <a:t>Acompanha o painel do estado</a:t>
            </a:r>
            <a:endParaRPr lang="en-US" sz="1350" dirty="0"/>
          </a:p>
        </p:txBody>
      </p:sp>
      <p:sp>
        <p:nvSpPr>
          <p:cNvPr id="29" name="Shape 25"/>
          <p:cNvSpPr/>
          <p:nvPr/>
        </p:nvSpPr>
        <p:spPr>
          <a:xfrm>
            <a:off x="4572000" y="4672584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351B4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572000" y="4672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51B4"/>
                </a:solidFill>
              </a:rPr>
              <a:t>3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5074920" y="465429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</a:rPr>
              <a:t>Opera pelos municípios sem equipe</a:t>
            </a:r>
            <a:endParaRPr lang="en-US" sz="1350" dirty="0"/>
          </a:p>
        </p:txBody>
      </p:sp>
      <p:sp>
        <p:nvSpPr>
          <p:cNvPr id="32" name="Shape 28"/>
          <p:cNvSpPr/>
          <p:nvPr/>
        </p:nvSpPr>
        <p:spPr>
          <a:xfrm>
            <a:off x="8092440" y="1965960"/>
            <a:ext cx="3611880" cy="3520440"/>
          </a:xfrm>
          <a:prstGeom prst="roundRect">
            <a:avLst>
              <a:gd name="adj" fmla="val 311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366760" y="2194560"/>
            <a:ext cx="731520" cy="731520"/>
          </a:xfrm>
          <a:prstGeom prst="ellipse">
            <a:avLst/>
          </a:prstGeom>
          <a:solidFill>
            <a:srgbClr val="1351B4"/>
          </a:solidFill>
          <a:ln w="12700">
            <a:solidFill>
              <a:srgbClr val="1351B4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377440"/>
            <a:ext cx="365760" cy="36576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9281160" y="22128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71D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Município</a:t>
            </a:r>
            <a:endParaRPr lang="en-US" sz="2200" dirty="0"/>
          </a:p>
        </p:txBody>
      </p:sp>
      <p:sp>
        <p:nvSpPr>
          <p:cNvPr id="36" name="Text 31"/>
          <p:cNvSpPr txBox="1"/>
          <p:nvPr/>
        </p:nvSpPr>
        <p:spPr>
          <a:xfrm>
            <a:off x="9281160" y="26334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673"/>
                </a:solidFill>
              </a:rPr>
              <a:t>Defesa Civil municipal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8366760" y="324612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351B4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836676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51B4"/>
                </a:solidFill>
              </a:rPr>
              <a:t>1</a:t>
            </a:r>
            <a:endParaRPr lang="en-US" sz="1300" dirty="0"/>
          </a:p>
        </p:txBody>
      </p:sp>
      <p:sp>
        <p:nvSpPr>
          <p:cNvPr id="39" name="Text 34"/>
          <p:cNvSpPr txBox="1"/>
          <p:nvPr/>
        </p:nvSpPr>
        <p:spPr>
          <a:xfrm>
            <a:off x="8869680" y="322783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</a:rPr>
              <a:t>Cadastra abrigos e pontos de apoio (ex.: pontos de resfriamento) num formulário</a:t>
            </a:r>
            <a:endParaRPr lang="en-US" sz="1350" dirty="0"/>
          </a:p>
        </p:txBody>
      </p:sp>
      <p:sp>
        <p:nvSpPr>
          <p:cNvPr id="40" name="Shape 35"/>
          <p:cNvSpPr/>
          <p:nvPr/>
        </p:nvSpPr>
        <p:spPr>
          <a:xfrm>
            <a:off x="8366760" y="3959352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351B4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836676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51B4"/>
                </a:solidFill>
              </a:rPr>
              <a:t>2</a:t>
            </a:r>
            <a:endParaRPr lang="en-US" sz="1300" dirty="0"/>
          </a:p>
        </p:txBody>
      </p:sp>
      <p:sp>
        <p:nvSpPr>
          <p:cNvPr id="42" name="Text 37"/>
          <p:cNvSpPr txBox="1"/>
          <p:nvPr/>
        </p:nvSpPr>
        <p:spPr>
          <a:xfrm>
            <a:off x="8869680" y="394106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</a:rPr>
              <a:t>Escolhe a orientação local a partir de modelos</a:t>
            </a:r>
            <a:endParaRPr lang="en-US" sz="1350" dirty="0"/>
          </a:p>
        </p:txBody>
      </p:sp>
      <p:sp>
        <p:nvSpPr>
          <p:cNvPr id="43" name="Shape 38"/>
          <p:cNvSpPr/>
          <p:nvPr/>
        </p:nvSpPr>
        <p:spPr>
          <a:xfrm>
            <a:off x="8366760" y="4672584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351B4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8366760" y="4672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51B4"/>
                </a:solidFill>
              </a:rPr>
              <a:t>3</a:t>
            </a:r>
            <a:endParaRPr lang="en-US" sz="1300" dirty="0"/>
          </a:p>
        </p:txBody>
      </p:sp>
      <p:sp>
        <p:nvSpPr>
          <p:cNvPr id="45" name="Text 40"/>
          <p:cNvSpPr txBox="1"/>
          <p:nvPr/>
        </p:nvSpPr>
        <p:spPr>
          <a:xfrm>
            <a:off x="8869680" y="465429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</a:rPr>
              <a:t>Responde aos pedidos de ajuda do bairro</a:t>
            </a:r>
            <a:endParaRPr lang="en-US" sz="1350" dirty="0"/>
          </a:p>
        </p:txBody>
      </p:sp>
      <p:sp>
        <p:nvSpPr>
          <p:cNvPr id="46" name="Shape 41"/>
          <p:cNvSpPr/>
          <p:nvPr/>
        </p:nvSpPr>
        <p:spPr>
          <a:xfrm>
            <a:off x="502920" y="5623560"/>
            <a:ext cx="11155680" cy="502920"/>
          </a:xfrm>
          <a:prstGeom prst="roundRect">
            <a:avLst>
              <a:gd name="adj" fmla="val 21818"/>
            </a:avLst>
          </a:prstGeom>
          <a:solidFill>
            <a:srgbClr val="E3F5E1"/>
          </a:solidFill>
          <a:ln w="12700">
            <a:solidFill>
              <a:srgbClr val="E3F5E1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731520" y="56235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8821"/>
                </a:solidFill>
              </a:rPr>
              <a:t>Treinamento de 1 hora · um celular basta para operar · comunidade e voluntários confirmam no local pelo próprio app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943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rgbClr val="5D66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1D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Viável e barato: reaproveita o que o Brasil já tem.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737360"/>
            <a:ext cx="4937760" cy="4023360"/>
          </a:xfrm>
          <a:prstGeom prst="roundRect">
            <a:avLst>
              <a:gd name="adj" fmla="val 2727"/>
            </a:avLst>
          </a:prstGeom>
          <a:solidFill>
            <a:srgbClr val="071D41"/>
          </a:solidFill>
          <a:ln w="12700">
            <a:solidFill>
              <a:srgbClr val="071D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E86F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R$ 1 → R$ 4 a 36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6324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Cada R$ 1 investido em previsão do tempo e alerta precoce evita de R$ 4 a R$ 36 em perdas: vidas, casas, lavouras, comércio e gastos de emergência.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3434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FB3D1"/>
                </a:solidFill>
              </a:rPr>
              <a:t>Hallegatte, Banco Mundial (2012): razão benefício-custo em países em desenvolvimento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7548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R$ 9,2 bilhões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193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7EE"/>
                </a:solidFill>
              </a:rPr>
              <a:t>em prejuízos com chuvas no Brasil só em 2024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06440" y="1783080"/>
            <a:ext cx="640080" cy="640080"/>
          </a:xfrm>
          <a:prstGeom prst="ellipse">
            <a:avLst/>
          </a:prstGeom>
          <a:solidFill>
            <a:srgbClr val="DBE8FB"/>
          </a:solidFill>
          <a:ln w="12700">
            <a:solidFill>
              <a:srgbClr val="DBE8F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6460" y="194310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629400" y="17373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71D41"/>
                </a:solidFill>
              </a:rPr>
              <a:t>Reaproveita</a:t>
            </a:r>
            <a:endParaRPr lang="en-US" sz="1400" dirty="0"/>
          </a:p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</a:rPr>
              <a:t>IDAP, cell broadcast, SMS 40199 e dados do Cemaden e Inmet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806440" y="2807208"/>
            <a:ext cx="640080" cy="640080"/>
          </a:xfrm>
          <a:prstGeom prst="ellipse">
            <a:avLst/>
          </a:prstGeom>
          <a:solidFill>
            <a:srgbClr val="DBE8FB"/>
          </a:solidFill>
          <a:ln w="12700">
            <a:solidFill>
              <a:srgbClr val="DBE8F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460" y="296722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629400" y="276148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71D41"/>
                </a:solidFill>
              </a:rPr>
              <a:t>Construção enxuta</a:t>
            </a:r>
            <a:endParaRPr lang="en-US" sz="1400" dirty="0"/>
          </a:p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</a:rPr>
              <a:t>Site instalável feito com ferramentas no-code/low-code; equipe pequena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806440" y="3831336"/>
            <a:ext cx="640080" cy="640080"/>
          </a:xfrm>
          <a:prstGeom prst="ellipse">
            <a:avLst/>
          </a:prstGeom>
          <a:solidFill>
            <a:srgbClr val="DBE8FB"/>
          </a:solidFill>
          <a:ln w="12700">
            <a:solidFill>
              <a:srgbClr val="DBE8F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460" y="3991356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629400" y="3785616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71D41"/>
                </a:solidFill>
              </a:rPr>
              <a:t>Base legal pronta</a:t>
            </a:r>
            <a:endParaRPr lang="en-US" sz="1400" dirty="0"/>
          </a:p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</a:rPr>
              <a:t>Lei 12.608/2012: Sistema Nacional de Proteção e Defesa Civil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806440" y="4855464"/>
            <a:ext cx="640080" cy="640080"/>
          </a:xfrm>
          <a:prstGeom prst="ellipse">
            <a:avLst/>
          </a:prstGeom>
          <a:solidFill>
            <a:srgbClr val="DBE8FB"/>
          </a:solidFill>
          <a:ln w="12700">
            <a:solidFill>
              <a:srgbClr val="DBE8F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460" y="5015484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629400" y="4809744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71D41"/>
                </a:solidFill>
              </a:rPr>
              <a:t>Grátis para o cidadão</a:t>
            </a:r>
            <a:endParaRPr lang="en-US" sz="1400" dirty="0"/>
          </a:p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</a:rPr>
              <a:t>Custo central da União; estados e municípios só operam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502920" y="5943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673"/>
                </a:solidFill>
              </a:rPr>
              <a:t>Fontes: Hallegatte, World Bank Policy Research Working Paper 6058 (2012); levantamento de prejuízos por chuvas em 2024 (Revista Oeste, 2025); Lei nº 12.608/2012.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943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rgbClr val="5D66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1D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Onde queremos chegar.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2331720"/>
            <a:ext cx="10332720" cy="0"/>
          </a:xfrm>
          <a:prstGeom prst="line">
            <a:avLst/>
          </a:prstGeom>
          <a:noFill/>
          <a:ln w="38100">
            <a:solidFill>
              <a:srgbClr val="1351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2148840"/>
            <a:ext cx="365760" cy="365760"/>
          </a:xfrm>
          <a:prstGeom prst="ellipse">
            <a:avLst/>
          </a:prstGeom>
          <a:solidFill>
            <a:srgbClr val="E86F25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697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6F25"/>
                </a:solidFill>
              </a:rPr>
              <a:t>Verão 2026/27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063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71D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Piloto no Rio de Janeiro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520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D6673"/>
                </a:solidFill>
              </a:rPr>
              <a:t>Bairros de calor, deslizamento e alagamento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26280" y="2148840"/>
            <a:ext cx="365760" cy="365760"/>
          </a:xfrm>
          <a:prstGeom prst="ellipse">
            <a:avLst/>
          </a:prstGeom>
          <a:solidFill>
            <a:srgbClr val="1351B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2697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51B4"/>
                </a:solidFill>
              </a:rPr>
              <a:t>2027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3063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71D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Estados mais atingidos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3520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D6673"/>
                </a:solidFill>
              </a:rPr>
              <a:t>RS (enchente), PB (seca), AM (rios)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75320" y="2148840"/>
            <a:ext cx="365760" cy="365760"/>
          </a:xfrm>
          <a:prstGeom prst="ellipse">
            <a:avLst/>
          </a:prstGeom>
          <a:solidFill>
            <a:srgbClr val="1351B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2697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51B4"/>
                </a:solidFill>
              </a:rPr>
              <a:t>2028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3063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71D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Cobertura nacional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3520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D6673"/>
                </a:solidFill>
              </a:rPr>
              <a:t>Integrado à Defesa Civil em todo o país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4343400"/>
            <a:ext cx="5486400" cy="1463040"/>
          </a:xfrm>
          <a:prstGeom prst="roundRect">
            <a:avLst>
              <a:gd name="adj" fmla="val 7500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4805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71D41"/>
                </a:solidFill>
              </a:rPr>
              <a:t>Metas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</a:rPr>
              <a:t>Menos mortes em eventos extremos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</a:rPr>
              <a:t>Menos tempo entre o alerta e a ação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</a:rPr>
              <a:t>Todos os abrigos cadastrados e atualizados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72200" y="4343400"/>
            <a:ext cx="5486400" cy="1463040"/>
          </a:xfrm>
          <a:prstGeom prst="roundRect">
            <a:avLst>
              <a:gd name="adj" fmla="val 7500"/>
            </a:avLst>
          </a:prstGeom>
          <a:solidFill>
            <a:srgbClr val="DBE8FB"/>
          </a:solidFill>
          <a:ln w="12700">
            <a:solidFill>
              <a:srgbClr val="DBE8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44805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71D41"/>
                </a:solidFill>
              </a:rPr>
              <a:t>Alinhamento internacional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</a:rPr>
              <a:t>ODS 3 (saúde), 11 (cidades) e 13 (clima) da Agenda 2030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</a:rPr>
              <a:t>Meta G do Marco de Sendai: alerta precoce acessível a todos até 2030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943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rgbClr val="5D66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1D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Próximos passos: a cidade conectada na ponta do dedo.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69164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071D41"/>
          </a:solidFill>
          <a:ln w="12700">
            <a:solidFill>
              <a:srgbClr val="071D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965960"/>
            <a:ext cx="777240" cy="777240"/>
          </a:xfrm>
          <a:prstGeom prst="ellipse">
            <a:avLst/>
          </a:prstGeom>
          <a:solidFill>
            <a:srgbClr val="E86F25"/>
          </a:solidFill>
          <a:ln w="12700">
            <a:solidFill>
              <a:srgbClr val="E86F2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16027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880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Perfis de permissão para quem está na rua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49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7EE"/>
                </a:solidFill>
              </a:rPr>
              <a:t>Bombeiros, Defesa Civil e agentes de saúde enviam informações internas em segundos: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4434840"/>
            <a:ext cx="4480560" cy="685800"/>
          </a:xfrm>
          <a:prstGeom prst="roundRect">
            <a:avLst>
              <a:gd name="adj" fmla="val 16000"/>
            </a:avLst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44348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"Árvore caída bloqueando a rua X, no bairro Y."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257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6F25"/>
                </a:solidFill>
              </a:rPr>
              <a:t>O alerta do cidadão passa a ser atualizado por quem vê o problema.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897880" y="1737360"/>
            <a:ext cx="594360" cy="594360"/>
          </a:xfrm>
          <a:prstGeom prst="ellipse">
            <a:avLst/>
          </a:prstGeom>
          <a:solidFill>
            <a:srgbClr val="DBE8FB"/>
          </a:solidFill>
          <a:ln w="12700">
            <a:solidFill>
              <a:srgbClr val="DBE8F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470" y="188595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75120" y="169164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71D41"/>
                </a:solidFill>
              </a:rPr>
              <a:t>Piloto com a Defesa Civil do Rio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5D6673"/>
                </a:solidFill>
              </a:rPr>
              <a:t>ligado ao protocolo de calor, no verão 2026/27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897880" y="2587752"/>
            <a:ext cx="594360" cy="594360"/>
          </a:xfrm>
          <a:prstGeom prst="ellipse">
            <a:avLst/>
          </a:prstGeom>
          <a:solidFill>
            <a:srgbClr val="DBE8FB"/>
          </a:solidFill>
          <a:ln w="12700">
            <a:solidFill>
              <a:srgbClr val="DBE8F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470" y="2736342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675120" y="254203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71D41"/>
                </a:solidFill>
              </a:rPr>
              <a:t>Integração com o IDAP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5D6673"/>
                </a:solidFill>
              </a:rPr>
              <a:t>padrão CAP e assinatura ICP-Brasil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897880" y="3438144"/>
            <a:ext cx="594360" cy="594360"/>
          </a:xfrm>
          <a:prstGeom prst="ellipse">
            <a:avLst/>
          </a:prstGeom>
          <a:solidFill>
            <a:srgbClr val="DBE8FB"/>
          </a:solidFill>
          <a:ln w="12700">
            <a:solidFill>
              <a:srgbClr val="DBE8F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470" y="3586734"/>
            <a:ext cx="297180" cy="2971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675120" y="3392424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71D41"/>
                </a:solidFill>
              </a:rPr>
              <a:t>Testes com idosos e PcD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5D6673"/>
                </a:solidFill>
              </a:rPr>
              <a:t>usabilidade e acessibilidade com usuários reais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897880" y="4288536"/>
            <a:ext cx="594360" cy="594360"/>
          </a:xfrm>
          <a:prstGeom prst="ellipse">
            <a:avLst/>
          </a:prstGeom>
          <a:solidFill>
            <a:srgbClr val="DBE8FB"/>
          </a:solidFill>
          <a:ln w="12700">
            <a:solidFill>
              <a:srgbClr val="DBE8FB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470" y="4437126"/>
            <a:ext cx="297180" cy="2971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675120" y="4242816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71D41"/>
                </a:solidFill>
              </a:rPr>
              <a:t>LGPD e dados abertos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5D6673"/>
                </a:solidFill>
              </a:rPr>
              <a:t>relatório de impacto e dados anônimos para pesquisa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5897880" y="5138928"/>
            <a:ext cx="594360" cy="594360"/>
          </a:xfrm>
          <a:prstGeom prst="ellipse">
            <a:avLst/>
          </a:prstGeom>
          <a:solidFill>
            <a:srgbClr val="DBE8FB"/>
          </a:solidFill>
          <a:ln w="12700">
            <a:solidFill>
              <a:srgbClr val="DBE8FB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6470" y="5287518"/>
            <a:ext cx="297180" cy="29718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675120" y="509320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71D41"/>
                </a:solidFill>
              </a:rPr>
              <a:t>Avaliação de impacto com a UNIRIO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5D6673"/>
                </a:solidFill>
              </a:rPr>
              <a:t>tempo entre alerta e ação; pedidos de ajuda atendidos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943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rgbClr val="5D66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1D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Referências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508760"/>
            <a:ext cx="111556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B1B1B"/>
                </a:solidFill>
              </a:rPr>
              <a:t>AGÊNCIA BRASIL. Sistema da Defesa Civil é suspenso após invasão e disparo falso. Brasília, 20 jun. 2026.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B1B1B"/>
                </a:solidFill>
              </a:rPr>
              <a:t>BRASIL. Lei nº 12.608, de 10 de abril de 2012. Institui a Política Nacional de Proteção e Defesa Civil.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B1B1B"/>
                </a:solidFill>
              </a:rPr>
              <a:t>HALLEGATTE, S. A cost effective solution to reduce disaster losses in developing countries. Washington: World Bank, 2012. (Policy Research Working Paper, 6058).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B1B1B"/>
                </a:solidFill>
              </a:rPr>
              <a:t>HESS, J. J. et al. Building resilience to climate change: pilot evaluation of the impact of India's first heat action plan on all-cause mortality. Journal of Environmental and Public Health, 2018.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B1B1B"/>
                </a:solidFill>
              </a:rPr>
              <a:t>INMET; INPE; ANA; CEMADEN; SGB; SEDEC. Painel El Niño 2026-2027: boletins 1 a 3. Brasília, 2026.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B1B1B"/>
                </a:solidFill>
              </a:rPr>
              <a:t>IPCC. Climate Change 2021: The Physical Science Basis. Summary for Policymakers. Cambridge University Press, 2021.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B1B1B"/>
                </a:solidFill>
              </a:rPr>
              <a:t>LANCET COUNTDOWN. The 2025 report of the Lancet Countdown on health and climate change. The Lancet, 2025.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B1B1B"/>
                </a:solidFill>
              </a:rPr>
              <a:t>RIO DE JANEIRO (Município). Decreto nº 54.740, de 28 de junho de 2024. Protocolo de enfrentamento ao calor extremo.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B1B1B"/>
                </a:solidFill>
              </a:rPr>
              <a:t>NHESS. Heat-related mortality in Rio de Janeiro during the November 2023 heatwave. Natural Hazards and Earth System Sciences, v. 25, 2025.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B1B1B"/>
                </a:solidFill>
              </a:rPr>
              <a:t>UNDRR. Sendai Framework for Disaster Risk Reduction 2015-2030. Genebra, 2015.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B1B1B"/>
                </a:solidFill>
              </a:rPr>
              <a:t>UNITED NATIONS. Early Warnings for All Initiative. Nova York, 2025.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943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rgbClr val="5D66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próxima emergência,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nenhum brasileiro sozinho.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9776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400507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B2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BRASIL SEGURO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9377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Brian Pravato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FB3D1"/>
                </a:solidFill>
              </a:rPr>
              <a:t>UNIRIO · Proposta de serviço público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915400" y="146304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qr-urc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1645920"/>
            <a:ext cx="2240280" cy="22402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915400" y="3931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D41"/>
                </a:solidFill>
              </a:rPr>
              <a:t>Obrigado!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915400" y="42519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51B4"/>
                </a:solidFill>
              </a:rPr>
              <a:t>brasilseguro.kbrianps.com.br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943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50">
                <a:solidFill>
                  <a:srgbClr val="9FB3D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asil Seguro">
  <a:themeElements>
    <a:clrScheme name="Brasil Seguro">
      <a:dk1>
        <a:srgbClr val="1B1B1B"/>
      </a:dk1>
      <a:lt1>
        <a:srgbClr val="FFFFFF"/>
      </a:lt1>
      <a:dk2>
        <a:srgbClr val="071D41"/>
      </a:dk2>
      <a:lt2>
        <a:srgbClr val="F2F5FA"/>
      </a:lt2>
      <a:accent1>
        <a:srgbClr val="1351B4"/>
      </a:accent1>
      <a:accent2>
        <a:srgbClr val="E86F25"/>
      </a:accent2>
      <a:accent3>
        <a:srgbClr val="168821"/>
      </a:accent3>
      <a:accent4>
        <a:srgbClr val="E52207"/>
      </a:accent4>
      <a:accent5>
        <a:srgbClr val="DBE8FB"/>
      </a:accent5>
      <a:accent6>
        <a:srgbClr val="5D6673"/>
      </a:accent6>
      <a:hlink>
        <a:srgbClr val="1351B4"/>
      </a:hlink>
      <a:folHlink>
        <a:srgbClr val="071D41"/>
      </a:folHlink>
    </a:clrScheme>
    <a:fontScheme name="Brasil Seguro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UNIRIO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Brasil Seguro</dc:title>
  <dc:subject>PptxGenJS Presentation</dc:subject>
  <dc:creator>Brian Pravato</dc:creator>
  <cp:lastModifiedBy>Brian Pravato</cp:lastModifiedBy>
  <cp:revision>1</cp:revision>
  <dcterms:created xsi:type="dcterms:W3CDTF">2026-10-13T20:40:58Z</dcterms:created>
  <dcterms:modified xsi:type="dcterms:W3CDTF">2026-10-13T20:40:58Z</dcterms:modified>
</cp:coreProperties>
</file>
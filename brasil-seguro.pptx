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Apresento o Brasil Seguro: uma proposta de serviço público digital para o governo federal, estados e municípios. A frase central: o Brasil já tem o alarme, falta o plano de fuga. O QR leva ao protótipo.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(10 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(50 s). Um fenômeno, impactos opostos: enchente no Sul, seca no Norte e Nordeste, calor no Sudeste. Por isso uma solução única precisa se adaptar ao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científica (40 s). Evidência de ONU, Lancet, IPCC e Banco Mundial: alerta precoce reduz mortes e é barato. O gargalo é transformar o aviso 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Brasil hoje (50 s). Temos boas ferramentas de aviso, mas todas param no aviso. Nenhuma diz o que fazer, onde ir ou permite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Exterior (50 s). Cada país resolveu uma parte: assinatura nos EUA, velocidade no Japão, lei na Europa, acessibilidade na Índia. O Brasil Seguro junta essas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(40 s). O caso misantropia mostrou que o alerta pode ser usado contra a população. Por isso segurança é requisito, não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Inovação (50 s). Este é o coração da proposta: não substituímos o alerta, transformamos o alerta em ação, ida e volta,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(40 s). Três fases, um só serviço, adaptado ao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Funcionamento (40 s). Reaproveita o alerta oficial que já existe. Funciona até sem internet: o SMS traz um código que abre o guia salvo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(40 s). Agora: status e passos. Isso é real?: combate boato. Locais: cadastrados pelo município e estado; no Rio, pontos de resfriamento seguem o Decreto 54.740/2024. Guias: na ordem dos riscos da região. Ajuda: ligar com um 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e inclusão (40 s). A resposta ao caso misantropia está aqui: assinatura, dupla aprovação, auditoria. E ninguém fica de fora: idosos, pessoas com deficiência e quem tem pouca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 s). Abrir o site pelo QR. Mostrar Urca: status, 3 passos, Estou bem. Trocar para Complexo do Alemão: outro risco, outra orientação. Mostrar a aba Guias ordenada por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Governança (40 s). Segue a Lei 12.608/2012: União fornece, estado coordena, município executa. Nada de sistema pesado: navegador, formulário e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Viabilidade (40 s). O custo é baixo porque não criamos infraestrutura nova; o retorno, segundo o Banco Mundial, chega a 36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(30 s). Começar pelo Rio neste verão, expandir para os estados mais atingidos e chegar ao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Próximos passos (40 s). O passo mais importante é dar voz às equipes na rua: perfis de permissão para Bombeiros e Defesa Civil reportarem incidentes, tornando a cidade conectada na ponta do dedo.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(20 s). Repetir a frase final e convidar a abrir o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6112" y="274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760720" y="274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Proposta de serviço público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6309360"/>
            <a:ext cx="11185855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Brian Pravato · UNIRIO · 2026</a:t>
            </a:r>
            <a:endParaRPr lang="en-US" sz="105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71D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459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3D1"/>
                </a:solidFill>
              </a:rPr>
              <a:t>PROPOSTA DE SERVIÇO PÚBLICO DIGITAL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7EE"/>
                </a:solidFill>
              </a:rPr>
              <a:t>Do alerta à ação: proteger a população nos extremos do El Niño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731520" y="141732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168821"/>
          </a:solidFill>
          <a:ln w="12700">
            <a:solidFill>
              <a:srgbClr val="16882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41732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INOVAÇÃO SOCIAL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6F25"/>
                </a:solidFill>
              </a:rPr>
              <a:t>O Brasil já tem o alarme. Falta o plano de fuga.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257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Brian Pravato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</a:rPr>
              <a:t>UNIRIO · Inovação na prática · Outubro de 2026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Acesse o protótipo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Sumário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 problema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El Niño, vários Brasis e o que a ciência diz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7830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7830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 que já existe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Ferramentas no Brasil e no mundo: o bom e o que falta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1546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 proposta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Brasil Seguro: do alerta à ação, seguro e para todos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1546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Protótipo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Experimente pelo QR code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45262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262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754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Operação e custo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Quem faz o quê; por que é viável e barato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45262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5262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754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Próximos passos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Metas, roadmap e cidade conectada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El Niño não é um problema. São vários Brasis.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3291840" cy="4023360"/>
          </a:xfrm>
          <a:prstGeom prst="roundRect">
            <a:avLst>
              <a:gd name="adj" fmla="val 3333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011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chance de um El Niño muito forte entre outubro e dezembro de 2026, possivelmente um dos mais intensos desde 1950.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908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137410"/>
            <a:ext cx="342900" cy="342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2976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Chuva extrema e enchente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183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no RS em 2024, com 2,3 milhões de afetados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137410"/>
            <a:ext cx="342900" cy="342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85800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Norte e Nordeste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Seca severa e rios baixos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→ 24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municípios em seca extrema em apenas um mês (set/2026)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18972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1832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770" y="2137410"/>
            <a:ext cx="342900" cy="3429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41832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Sudeste e Centro-Oeste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Calor extremo e queimadas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41832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5220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34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atribuídas ao calor em um único dia no RJ (nov/2023)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Painel El Niño 2026–2027 (Inmet, INPE, ANA, Cemaden, SGB, Sedec); Defesa Civil RS (2024); Cemaden (set/2026); NHESS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 salva vidas. A ciência já mostrou isso.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menor mortalidade por desastres em países com bons sistemas de alerta precoce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ONU, Early Warnings for 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546 mil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mortes por calor por ano no mundo, 23% acima dos anos 1990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Lancet Countdown, 2025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intensidade da chuva extrema a cada 1 °C de aquecimento global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IPCC AR6, 2021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R$ 4 a 36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em perdas evitadas para cada R$ 1 investido em alerta precoce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Hallegatte, Banco Mundial, 2012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F25"/>
                </a:solidFill>
              </a:rPr>
              <a:t>Avisar funciona. Mas o aviso precisa virar 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Mas ele só avisa.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Defesa Civil Alerta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desde dez/2024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 todos os celulares da área, sem cadastro, com alerta sonoro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Aviso genérico e de mão única; foi invadido e disparou alerta falso em jun/2026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SMS 40199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· cadastro por CEP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Funciona em celular simples e sem internet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Exige cadastro; texto curto; não orienta nem recebe resposta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Alertas por WhatsApp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Nacional ·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Usa o canal mais popular do país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envia alertas: não mostra abrigo, não recebe pedidos de ajuda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Apps municipais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ex.: Alerta Rio, AlertaBlu (Blumenau)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Informação local e detalhada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cidade tem o seu; a maioria dos municípios não tem nenhum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DPL News (2024); Convergência Digital (2022); Agência Brasil (2026); GeneXus/AlertaBlu.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mundo resolveu partes. Ninguém juntou tudo.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EUA: IPAWS + app FEMA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alerta padrão CAP + aplicativo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alerta é assinado digitalmente; app mostra abrigos e auxílio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Alerta e app são separados; o cidadão precisa juntar as peças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Japão: J-Alert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satélite, alto-falantes e celular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aos municípios em cerca de 1 segundo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Foco em sirene e aviso; pouca resposta do cidadão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União Europeia: EU-Alert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diretiva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Obrigatório por lei em todos os países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aviso; implementação desigual entre países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Índia: Sachet (NDMA)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portal, SMS e app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12 idiomas e leitura em voz alta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Portal centralizado, pouca orientação depois do alerta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Congressional Research Service (2026); NDMA/Sachet; Diretiva (UE) 2018/1972; FCC (2018).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junho, 30 milhões acordaram com um alerta falso.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ALERTA EXTREMO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"Defesa Civil: misantropia"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49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Madrugada de 20/06/2026 · 8 capitais · sinal sonoro de emergência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O que houve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89320" y="2176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Um invasor acessou o sistema e disparou o alerta remotamente. A plataforma foi desligada e a Polícia Federal investiga.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30358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Por que importa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Cada alerta falso ensina a população a ignorar o próximo, inclusive o verdadeiro.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42428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8821"/>
                </a:solidFill>
              </a:rPr>
              <a:t>A lição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45902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Confiança é infraestrutura crítica: todo alerta precisa ser assinado, aprovado por duas pessoas e auditável.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Agência Brasil (20/06/2026); Band Paraná (2026). O total de 30 milhões é estimativa da imprensa.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Falta o plano de fuga.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D6673"/>
                </a:solidFill>
              </a:rPr>
              <a:t>COMO É HOJE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</a:rPr>
              <a:t>COM O BRASIL SEGURO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"Risco na região": aviso genérico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51460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2377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Status do seu bairro e 3 passos em ordem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9809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Mão única: ninguém responde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118104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92240" y="29809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Botões "Estou bem" e "Preciso de ajuda"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3529584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5844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saber para onde ir</a:t>
            </a:r>
            <a:endParaRPr lang="en-US" sz="15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2160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5844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Abrigos e pontos de apoio com lotação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31520" y="4133088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Boatos e alertas falsos</a:t>
            </a:r>
            <a:endParaRPr lang="en-US" sz="15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32511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92240" y="41879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"Isso é real?" e alerta com assinatura digital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31520" y="4736592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31520" y="479145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Só funciona com sinal e internet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928616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92240" y="4791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Guias e mapa salvos no celular para usar offline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731520" y="5340096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" y="5394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Igual para todos</a:t>
            </a:r>
            <a:endParaRPr lang="en-US" sz="15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553212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492240" y="5394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Perfil: letra grande, áudio, Libras, linguagem simples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Seguro: um só serviço, antes, durante e depois.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ANTES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Preparar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Guias por evento, ordenados pelo risco da região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Cadastro opcional com gov.br: perfil da casa (idosos, PcD, pets)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Kit de emergência e rede de confiança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05740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2402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DURANTE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Status atual e o que fazer, em 3 passos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Locais seguros mais próximos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"Estou bem" / "Preciso de ajuda" e "Isso é real?"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DEPOIS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811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Recuperar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Direitos: FGTS calamidade, auxílios, Garantia-Safra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Doações e voluntários organizados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Pessoas e pets desaparecidos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8821"/>
                </a:solidFill>
              </a:rPr>
              <a:t>Inovação social: a tecnologia é simples; o novo é organizar o cuidado entre poder público, vizinhos e quem mais precisa.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funciona: do alerta oficial à resposta, em segundos.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1717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Alerta oficial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Cemaden e Inmet emitem; IDAP envia com assinatura digital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898648"/>
            <a:ext cx="228600" cy="228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8328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1717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11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Brasil Seguro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7EE"/>
                </a:solidFill>
              </a:rPr>
              <a:t>Identifica o bairro pela localização, calculada no próprio aparelho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289864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6364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260" y="217170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Cidadão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649224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Vê status e passos, acha local seguro, avisa "Estou bem"</a:t>
            </a:r>
            <a:endParaRPr lang="en-US" sz="12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98648"/>
            <a:ext cx="228600" cy="2286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14400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937260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217170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72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Defesa Civil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93726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Recebe pedidos de ajuda e ocorrências no painel</a:t>
            </a:r>
            <a:endParaRPr lang="en-US" sz="1250" dirty="0"/>
          </a:p>
        </p:txBody>
      </p:sp>
      <p:sp>
        <p:nvSpPr>
          <p:cNvPr id="26" name="Text 17"/>
          <p:cNvSpPr txBox="1"/>
          <p:nvPr/>
        </p:nvSpPr>
        <p:spPr>
          <a:xfrm>
            <a:off x="502920" y="4526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D6673"/>
                </a:solidFill>
              </a:rPr>
              <a:t>CHEGA POR ONDE A PESSOA ESTIVER</a:t>
            </a:r>
            <a:endParaRPr lang="en-US" sz="1100" dirty="0"/>
          </a:p>
        </p:txBody>
      </p:sp>
      <p:sp>
        <p:nvSpPr>
          <p:cNvPr id="27" name="Shape 18"/>
          <p:cNvSpPr/>
          <p:nvPr/>
        </p:nvSpPr>
        <p:spPr>
          <a:xfrm>
            <a:off x="502920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029200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143000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App e site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celular e computador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2770632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7792" y="5029200"/>
            <a:ext cx="274320" cy="27432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3410712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SMS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aviso e resposta simples</a:t>
            </a:r>
            <a:endParaRPr lang="en-US" sz="1300" dirty="0"/>
          </a:p>
        </p:txBody>
      </p:sp>
      <p:sp>
        <p:nvSpPr>
          <p:cNvPr id="33" name="Shape 22"/>
          <p:cNvSpPr/>
          <p:nvPr/>
        </p:nvSpPr>
        <p:spPr>
          <a:xfrm>
            <a:off x="5038344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5504" y="5029200"/>
            <a:ext cx="274320" cy="27432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5678424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Offline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guias e mapa já salvos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7306056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3216" y="5029200"/>
            <a:ext cx="274320" cy="274320"/>
          </a:xfrm>
          <a:prstGeom prst="rect">
            <a:avLst/>
          </a:prstGeom>
        </p:spPr>
      </p:pic>
      <p:sp>
        <p:nvSpPr>
          <p:cNvPr id="38" name="Text 25"/>
          <p:cNvSpPr txBox="1"/>
          <p:nvPr/>
        </p:nvSpPr>
        <p:spPr>
          <a:xfrm>
            <a:off x="7946136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Celular a celular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sem antena</a:t>
            </a:r>
            <a:endParaRPr lang="en-US" sz="1300" dirty="0"/>
          </a:p>
        </p:txBody>
      </p:sp>
      <p:sp>
        <p:nvSpPr>
          <p:cNvPr id="39" name="Shape 26"/>
          <p:cNvSpPr/>
          <p:nvPr/>
        </p:nvSpPr>
        <p:spPr>
          <a:xfrm>
            <a:off x="9573768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10928" y="5029200"/>
            <a:ext cx="274320" cy="2743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10213848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Áudio e Libras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para todos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cidadão vê: claro, calmo e em ordem.</a:t>
            </a:r>
            <a:endParaRPr lang="en-US" sz="3000" dirty="0"/>
          </a:p>
        </p:txBody>
      </p:sp>
      <p:pic>
        <p:nvPicPr>
          <p:cNvPr id="3" name="Image 0" descr="s-urca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554480"/>
            <a:ext cx="2103120" cy="339212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9496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Agora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Status e passos em ordem</a:t>
            </a:r>
            <a:endParaRPr lang="en-US" sz="1350" dirty="0"/>
          </a:p>
        </p:txBody>
      </p:sp>
      <p:pic>
        <p:nvPicPr>
          <p:cNvPr id="6" name="Image 1" descr="s-alertas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554480"/>
            <a:ext cx="2103120" cy="339212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807208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770632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Isso é real?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Oficial × boato</a:t>
            </a:r>
            <a:endParaRPr lang="en-US" sz="1350" dirty="0"/>
          </a:p>
        </p:txBody>
      </p:sp>
      <p:pic>
        <p:nvPicPr>
          <p:cNvPr id="9" name="Image 2" descr="s-locais-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54480"/>
            <a:ext cx="2103120" cy="3392129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074920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038344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Locais seguros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Cadastrados por município e estado</a:t>
            </a:r>
            <a:endParaRPr lang="en-US" sz="1350" dirty="0"/>
          </a:p>
        </p:txBody>
      </p:sp>
      <p:pic>
        <p:nvPicPr>
          <p:cNvPr id="12" name="Image 3" descr="s-guias-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2" y="1554480"/>
            <a:ext cx="2103120" cy="33921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7342632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06056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Guias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Ordenados pelos riscos locais</a:t>
            </a:r>
            <a:endParaRPr lang="en-US" sz="1350" dirty="0"/>
          </a:p>
        </p:txBody>
      </p:sp>
      <p:pic>
        <p:nvPicPr>
          <p:cNvPr id="15" name="Image 4" descr="s-ajuda-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1554480"/>
            <a:ext cx="2103120" cy="3392129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9610344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573768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Ajuda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Ligar 193, 199, 192, 190 e rede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Seguro contra ataques. Feito para todos.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 e confiança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Conta gov.br no primeiro acesso, opcional e não bloqueante: ajuda a identificar pessoas e locais de risco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Assinatura digital ICP-Brasil em cada alerta (padrão CAP): alerta falso não abre o app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Login com dois fatores e dupla aprovação para disparar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Auditoria pública de cada alerta; localização processada no aparelho (LGPD)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Linguagem calma, sem pânico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945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Acessibilidade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Uma pergunta no primeiro acesso define o perfil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Pessoa idosa: letra grande e linguagem simples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Baixa visão: alto contraste; quem prefere ouvir: leitura em voz alta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Pessoa surda: vídeo em Libras em cada alerta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Meta: WCAG 2.1 nível AA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Experimente agora: cada bairro, a sua orientação.</a:t>
            </a:r>
            <a:endParaRPr lang="en-US" sz="3000" dirty="0"/>
          </a:p>
        </p:txBody>
      </p:sp>
      <p:pic>
        <p:nvPicPr>
          <p:cNvPr id="3" name="Image 0" descr="s-urca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2286000" cy="368709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Urca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Calor extremo</a:t>
            </a:r>
            <a:endParaRPr lang="en-US" sz="1300" dirty="0"/>
          </a:p>
        </p:txBody>
      </p:sp>
      <p:pic>
        <p:nvPicPr>
          <p:cNvPr id="6" name="Image 1" descr="s-alemao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554480"/>
            <a:ext cx="2286000" cy="368709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24612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20040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Complexo do Alemão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Risco de deslizamento</a:t>
            </a:r>
            <a:endParaRPr lang="en-US" sz="1300" dirty="0"/>
          </a:p>
        </p:txBody>
      </p:sp>
      <p:pic>
        <p:nvPicPr>
          <p:cNvPr id="9" name="Image 2" descr="s-pb-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554480"/>
            <a:ext cx="2286000" cy="368709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94360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89788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Patos (PB)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Seca severa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732520" y="1645920"/>
            <a:ext cx="2926080" cy="4297680"/>
          </a:xfrm>
          <a:prstGeom prst="roundRect">
            <a:avLst>
              <a:gd name="adj" fmla="val 3750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pic>
        <p:nvPicPr>
          <p:cNvPr id="13" name="Image 3" descr="qr-urc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920240"/>
            <a:ext cx="2377440" cy="23774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73252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Aponte a câmera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7325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7EE"/>
                </a:solidFill>
              </a:rPr>
              <a:t>brasilseguro.kbrianps.com.br/rj/urca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3D1"/>
                </a:solidFill>
              </a:rPr>
              <a:t>Protótipo estático com dados simulados · celular e computador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Simples para quem opera: só navegador e celular.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servidores locais e sem máquinas novas: a plataforma roda na nuvem de governo mantida pela União.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União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Nacional, Cemaden, Inmet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Mantém a plataforma na nuvem de governo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Envia o alerta oficial assinado (IDAP)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Publica modelos prontos de guias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29768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774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48640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estadual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7200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2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Aprova cada disparo (segunda assinatura)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457200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07492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Acompanha o painel do estado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457200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7200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07492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Opera pelos municípios sem equipe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809244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6676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37744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28116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</a:t>
            </a:r>
            <a:endParaRPr lang="en-US" sz="2200" dirty="0"/>
          </a:p>
        </p:txBody>
      </p:sp>
      <p:sp>
        <p:nvSpPr>
          <p:cNvPr id="36" name="Text 31"/>
          <p:cNvSpPr txBox="1"/>
          <p:nvPr/>
        </p:nvSpPr>
        <p:spPr>
          <a:xfrm>
            <a:off x="928116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municipal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836676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3667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886968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Cadastra abrigos e pontos de apoio (ex.: pontos de resfriamento) num formulário</a:t>
            </a:r>
            <a:endParaRPr lang="en-US" sz="1350" dirty="0"/>
          </a:p>
        </p:txBody>
      </p:sp>
      <p:sp>
        <p:nvSpPr>
          <p:cNvPr id="40" name="Shape 35"/>
          <p:cNvSpPr/>
          <p:nvPr/>
        </p:nvSpPr>
        <p:spPr>
          <a:xfrm>
            <a:off x="836676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366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886968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Escolhe a orientação local a partir de modelos</a:t>
            </a:r>
            <a:endParaRPr lang="en-US" sz="1350" dirty="0"/>
          </a:p>
        </p:txBody>
      </p:sp>
      <p:sp>
        <p:nvSpPr>
          <p:cNvPr id="43" name="Shape 38"/>
          <p:cNvSpPr/>
          <p:nvPr/>
        </p:nvSpPr>
        <p:spPr>
          <a:xfrm>
            <a:off x="836676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3667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45" name="Text 40"/>
          <p:cNvSpPr txBox="1"/>
          <p:nvPr/>
        </p:nvSpPr>
        <p:spPr>
          <a:xfrm>
            <a:off x="886968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Responde aos pedidos de ajuda do bairro</a:t>
            </a:r>
            <a:endParaRPr lang="en-US" sz="1350" dirty="0"/>
          </a:p>
        </p:txBody>
      </p:sp>
      <p:sp>
        <p:nvSpPr>
          <p:cNvPr id="46" name="Shape 41"/>
          <p:cNvSpPr/>
          <p:nvPr/>
        </p:nvSpPr>
        <p:spPr>
          <a:xfrm>
            <a:off x="502920" y="5623560"/>
            <a:ext cx="11155680" cy="502920"/>
          </a:xfrm>
          <a:prstGeom prst="roundRect">
            <a:avLst>
              <a:gd name="adj" fmla="val 21818"/>
            </a:avLst>
          </a:prstGeom>
          <a:solidFill>
            <a:srgbClr val="E3F5E1"/>
          </a:solidFill>
          <a:ln w="12700">
            <a:solidFill>
              <a:srgbClr val="E3F5E1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31520" y="56235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8821"/>
                </a:solidFill>
              </a:rPr>
              <a:t>Treinamento de 1 hora · um celular basta para operar · comunidade e voluntários confirmam no local pelo próprio app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Viável e barato: reaproveita o que o Brasil já tem.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4937760" cy="4023360"/>
          </a:xfrm>
          <a:prstGeom prst="roundRect">
            <a:avLst>
              <a:gd name="adj" fmla="val 272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R$ 1 → R$ 4 a 36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Cada R$ 1 investido em previsão do tempo e alerta precoce evita de R$ 4 a R$ 36 em perdas: vidas, casas, lavouras, comércio e gastos de emergência.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B3D1"/>
                </a:solidFill>
              </a:rPr>
              <a:t>Hallegatte, Banco Mundial (2012): razão benefício-custo em países em desenvolvimento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R$ 9,2 bilhões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93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em prejuízos com chuvas no Brasil só em 2024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1783080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6460" y="19431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2940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Reaproveita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IDAP, cell broadcast, SMS 40199 e dados do Cemaden e Inmet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06440" y="2807208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460" y="296722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29400" y="2761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Construção enxuta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Site instalável feito com ferramentas no-code/low-code; equipe pequena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806440" y="3831336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991356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29400" y="378561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Base legal pronta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Lei 12.608/2012: Sistema Nacional de Proteção e Defesa Civil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06440" y="4855464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5015484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629400" y="4809744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Grátis para o cidadão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Custo central da União; estados e municípios só operam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Hallegatte, World Bank Policy Research Working Paper 6058 (2012); levantamento de prejuízos por chuvas em 2024 (Revista Oeste, 2025); Lei nº 12.608/2012.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queremos chegar.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38100">
            <a:solidFill>
              <a:srgbClr val="1351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148840"/>
            <a:ext cx="365760" cy="365760"/>
          </a:xfrm>
          <a:prstGeom prst="ellipse">
            <a:avLst/>
          </a:prstGeom>
          <a:solidFill>
            <a:srgbClr val="E86F25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6F25"/>
                </a:solidFill>
              </a:rPr>
              <a:t>Verão 2026/27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no Rio de Janeiro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Bairros de calor, deslizamento e alagamento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2628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2027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Estados mais atingidos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RS (enchente), PB (seca), AM (rios)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2028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nacional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Integrado à Defesa Civil em todo o país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Metas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mortes em eventos extremos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tempo entre o alerta e a ação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Todos os abrigos cadastrados e atualizados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Alinhamento internacional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ODS 3 (saúde), 11 (cidades) e 13 (clima) da Agenda 2030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 G do Marco de Sendai: alerta precoce acessível a todos até 2030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Próximos passos: a cidade conectada na ponta do dedo.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965960"/>
            <a:ext cx="777240" cy="77724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1602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80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de permissão para quem está na rua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Bombeiros, Defesa Civil e agentes de saúde enviam informações internas em segundos: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4434840"/>
            <a:ext cx="4480560" cy="685800"/>
          </a:xfrm>
          <a:prstGeom prst="roundRect">
            <a:avLst>
              <a:gd name="adj" fmla="val 16000"/>
            </a:avLst>
          </a:prstGeom>
          <a:solidFill>
            <a:srgbClr val="0E2A5C"/>
          </a:solidFill>
          <a:ln w="12700">
            <a:solidFill>
              <a:srgbClr val="0E2A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4434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"Árvore caída bloqueando a rua X, no bairro Y."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2578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6F25"/>
                </a:solidFill>
              </a:rPr>
              <a:t>O alerta do cidadão passa a ser atualizado por quem vê o problema.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97880" y="1737360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470" y="188595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75120" y="169164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Piloto com a Defesa Civil do Rio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ligado ao protocolo de calor, no verão 2026/27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897880" y="2587752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470" y="2736342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75120" y="254203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Integração com o IDAP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padrão CAP e assinatura ICP-Brasil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897880" y="3438144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70" y="3586734"/>
            <a:ext cx="297180" cy="2971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75120" y="3392424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Testes com idosos e PcD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usabilidade e acessibilidade com usuários reais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897880" y="4288536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470" y="4437126"/>
            <a:ext cx="297180" cy="2971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675120" y="4242816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LGPD e dados abertos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relatório de impacto e dados anônimos para pesquisa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897880" y="5138928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6470" y="5287518"/>
            <a:ext cx="297180" cy="2971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675120" y="50932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Avaliação de impacto com a UNIRIO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tempo entre alerta e ação; pedidos de ajuda atendidos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Referências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AGÊNCIA BRASIL. Sistema da Defesa Civil é suspenso após invasão e disparo falso. Brasília, 20 jun.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BRASIL. Lei nº 12.608, de 10 de abril de 2012. Institui a Política Nacional de Proteção e Defesa Civil.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HALLEGATTE, S. A cost effective solution to reduce disaster losses in developing countries. Washington: World Bank, 2012. (Policy Research Working Paper, 6058).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HESS, J. J. et al. Building resilience to climate change: pilot evaluation of the impact of India's first heat action plan on all-cause mortality. Journal of Environmental and Public Health, 2018.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INMET; INPE; ANA; CEMADEN; SGB; SEDEC. Painel El Niño 2026-2027: boletins 1 a 3. Brasília,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IPCC. Climate Change 2021: The Physical Science Basis. Summary for Policymakers. Cambridge University Press, 2021.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LANCET COUNTDOWN. The 2025 report of the Lancet Countdown on health and climate change. The Lancet,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RIO DE JANEIRO (Município). Decreto nº 54.740, de 28 de junho de 2024. Protocolo de enfrentamento ao calor extremo.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NHESS. Heat-related mortality in Rio de Janeiro during the November 2023 heatwave. Natural Hazards and Earth System Sciences, v. 25,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UNDRR. Sendai Framework for Disaster Risk Reduction 2015-2030. Genebra, 2015.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UNITED NATIONS. Early Warnings for All Initiative. Nova York, 2025.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próxima emergência,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nenhum brasileiro sozinho.</a:t>
            </a:r>
            <a:endParaRPr lang="en-US" sz="4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776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40050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DB2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937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Brian Pravato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3D1"/>
                </a:solidFill>
              </a:rPr>
              <a:t>UNIRIO · Proposta de serviço público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Obrigado!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sil Seguro">
  <a:themeElements>
    <a:clrScheme name="Brasil Seguro">
      <a:dk1>
        <a:srgbClr val="1B1B1B"/>
      </a:dk1>
      <a:lt1>
        <a:srgbClr val="FFFFFF"/>
      </a:lt1>
      <a:dk2>
        <a:srgbClr val="071D41"/>
      </a:dk2>
      <a:lt2>
        <a:srgbClr val="F2F5FA"/>
      </a:lt2>
      <a:accent1>
        <a:srgbClr val="1351B4"/>
      </a:accent1>
      <a:accent2>
        <a:srgbClr val="E86F25"/>
      </a:accent2>
      <a:accent3>
        <a:srgbClr val="168821"/>
      </a:accent3>
      <a:accent4>
        <a:srgbClr val="E52207"/>
      </a:accent4>
      <a:accent5>
        <a:srgbClr val="DBE8FB"/>
      </a:accent5>
      <a:accent6>
        <a:srgbClr val="5D6673"/>
      </a:accent6>
      <a:hlink>
        <a:srgbClr val="1351B4"/>
      </a:hlink>
      <a:folHlink>
        <a:srgbClr val="071D41"/>
      </a:folHlink>
    </a:clrScheme>
    <a:fontScheme name="Brasil Seguro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UNIRIO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Brasil Seguro</dc:title>
  <dc:subject>PptxGenJS Presentation</dc:subject>
  <dc:creator>Brian Pravato</dc:creator>
  <cp:lastModifiedBy>Brian Pravato</cp:lastModifiedBy>
  <cp:revision>1</cp:revision>
  <dcterms:created xsi:type="dcterms:W3CDTF">2026-10-13T20:31:45Z</dcterms:created>
  <dcterms:modified xsi:type="dcterms:W3CDTF">2026-10-13T20:31:45Z</dcterms:modified>
</cp:coreProperties>
</file>